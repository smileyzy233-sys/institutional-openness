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10" y="-54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19456"/>
            <a:ext cx="11155680" cy="34747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lIns="18288" tIns="9144" rIns="18288" bIns="9144" anchor="t">
            <a:normAutofit/>
          </a:bodyPr>
          <a:lstStyle/>
          <a:p>
            <a:pPr algn="l"/>
            <a:r>
              <a:rPr sz="1700" b="1">
                <a:solidFill>
                  <a:srgbClr val="000000"/>
                </a:solidFill>
                <a:latin typeface="Microsoft YaHei"/>
              </a:rPr>
              <a:t>流程说明与可调整内容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201400" cy="292608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lIns="18288" tIns="9144" rIns="18288" bIns="9144" anchor="t">
            <a:normAutofit/>
          </a:bodyPr>
          <a:lstStyle/>
          <a:p>
            <a:pPr algn="l"/>
            <a:r>
              <a:rPr sz="850" b="0">
                <a:solidFill>
                  <a:srgbClr val="000000"/>
                </a:solidFill>
                <a:latin typeface="Microsoft YaHei"/>
              </a:rPr>
              <a:t>本页可作为图注或口头汇报说明，也可按导师意见继续精简或扩展。</a:t>
            </a:r>
          </a:p>
        </p:txBody>
      </p:sp>
      <p:cxnSp>
        <p:nvCxnSpPr>
          <p:cNvPr id="4" name="Connector 3"/>
          <p:cNvCxnSpPr>
            <a:cxnSpLocks/>
            <a:endCxn id="14" idx="4"/>
          </p:cNvCxnSpPr>
          <p:nvPr/>
        </p:nvCxnSpPr>
        <p:spPr>
          <a:xfrm>
            <a:off x="960120" y="1280160"/>
            <a:ext cx="0" cy="3456431"/>
          </a:xfrm>
          <a:prstGeom prst="line">
            <a:avLst/>
          </a:prstGeom>
          <a:ln w="1524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95528" y="117043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143000"/>
            <a:ext cx="4114800" cy="25603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lIns="18288" tIns="9144" rIns="18288" bIns="9144" anchor="t">
            <a:norm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Microsoft YaHei"/>
              </a:rPr>
              <a:t>标准化条款粒度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463040"/>
            <a:ext cx="89611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lIns="18288" tIns="9144" rIns="18288" bIns="9144" anchor="t">
            <a:normAutofit/>
          </a:bodyPr>
          <a:lstStyle/>
          <a:p>
            <a:pPr algn="l"/>
            <a:r>
              <a:rPr sz="840" b="0">
                <a:solidFill>
                  <a:srgbClr val="000000"/>
                </a:solidFill>
                <a:latin typeface="Microsoft YaHei"/>
              </a:rPr>
              <a:t>从 DTA 2.0 条款原始表出发，完成条款清洗、唯一 ID 构造，并生成协定-条款矩阵。该步骤保证后续编码对象一致、可追溯。</a:t>
            </a:r>
          </a:p>
        </p:txBody>
      </p:sp>
      <p:sp>
        <p:nvSpPr>
          <p:cNvPr id="8" name="Oval 7"/>
          <p:cNvSpPr/>
          <p:nvPr/>
        </p:nvSpPr>
        <p:spPr>
          <a:xfrm>
            <a:off x="795528" y="2249423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221991"/>
            <a:ext cx="4114800" cy="25603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lIns="18288" tIns="9144" rIns="18288" bIns="9144" anchor="t">
            <a:norm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Microsoft YaHei"/>
              </a:rPr>
              <a:t>Stage 1：制度型开放与四维度识别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542032"/>
            <a:ext cx="89611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lIns="18288" tIns="9144" rIns="18288" bIns="9144" anchor="t">
            <a:normAutofit/>
          </a:bodyPr>
          <a:lstStyle/>
          <a:p>
            <a:pPr algn="l"/>
            <a:r>
              <a:rPr sz="840" b="0">
                <a:solidFill>
                  <a:srgbClr val="000000"/>
                </a:solidFill>
                <a:latin typeface="Microsoft YaHei"/>
              </a:rPr>
              <a:t>两个模型分别进行制度型开放识别和四维度识别；一致结果直接通过，分歧结果进入比较/仲裁，得到 764 条制度型开放条款及最终维度标签。</a:t>
            </a:r>
          </a:p>
        </p:txBody>
      </p:sp>
      <p:sp>
        <p:nvSpPr>
          <p:cNvPr id="11" name="Oval 10"/>
          <p:cNvSpPr/>
          <p:nvPr/>
        </p:nvSpPr>
        <p:spPr>
          <a:xfrm>
            <a:off x="795528" y="3328415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300983"/>
            <a:ext cx="4114800" cy="25603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lIns="18288" tIns="9144" rIns="18288" bIns="9144" anchor="t">
            <a:norm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Microsoft YaHei"/>
              </a:rPr>
              <a:t>Stage 2：双模型交叉验证与仲裁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621023"/>
            <a:ext cx="89611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lIns="18288" tIns="9144" rIns="18288" bIns="9144" anchor="t">
            <a:normAutofit/>
          </a:bodyPr>
          <a:lstStyle/>
          <a:p>
            <a:pPr algn="l"/>
            <a:r>
              <a:rPr sz="840" b="0">
                <a:solidFill>
                  <a:srgbClr val="000000"/>
                </a:solidFill>
                <a:latin typeface="Microsoft YaHei"/>
              </a:rPr>
              <a:t>以 Stage 1 输出的 764 条条款为样本，模型 A 与模型 B 独立判断 mp/tr/both/none。682 条一致样本直接接受，82 条冲突样本交由盲审或人工仲裁。</a:t>
            </a:r>
          </a:p>
        </p:txBody>
      </p:sp>
      <p:sp>
        <p:nvSpPr>
          <p:cNvPr id="14" name="Oval 13"/>
          <p:cNvSpPr/>
          <p:nvPr/>
        </p:nvSpPr>
        <p:spPr>
          <a:xfrm>
            <a:off x="795528" y="4407407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379975"/>
            <a:ext cx="4114800" cy="25603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lIns="18288" tIns="9144" rIns="18288" bIns="9144" anchor="t">
            <a:normAutofit/>
          </a:bodyPr>
          <a:lstStyle/>
          <a:p>
            <a:pPr algn="l"/>
            <a:r>
              <a:rPr sz="1050" b="1">
                <a:solidFill>
                  <a:srgbClr val="000000"/>
                </a:solidFill>
                <a:latin typeface="Microsoft YaHei"/>
              </a:rPr>
              <a:t>权重转换与面板输出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700015"/>
            <a:ext cx="8961120" cy="438912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</a:ln>
        </p:spPr>
        <p:txBody>
          <a:bodyPr wrap="square" lIns="18288" tIns="9144" rIns="18288" bIns="9144" anchor="t">
            <a:normAutofit/>
          </a:bodyPr>
          <a:lstStyle/>
          <a:p>
            <a:pPr algn="l"/>
            <a:r>
              <a:rPr sz="840" b="0">
                <a:solidFill>
                  <a:srgbClr val="000000"/>
                </a:solidFill>
                <a:latin typeface="Microsoft YaHei"/>
              </a:rPr>
              <a:t>将 Stage 2 标签按照统一规则转换为贸易/投资权重，聚合形成协定层面指数，并映射到国家对-年份面板指标及 PTA dummy。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5623560"/>
            <a:ext cx="9692640" cy="6400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>
            <a:normAutofit/>
          </a:bodyPr>
          <a:lstStyle/>
          <a:p>
            <a:pPr algn="ctr"/>
            <a:r>
              <a:rPr sz="880" b="0">
                <a:solidFill>
                  <a:srgbClr val="000000"/>
                </a:solidFill>
                <a:latin typeface="Microsoft YaHei"/>
              </a:rPr>
              <a:t>可编辑说明：流程图中的所有框、箭头、阶段标题、底部注释和本页说明均为 PPTX 原生元素，可直接手动调整文字、位置、颜色和大小。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109</Words>
  <Application>Microsoft Office PowerPoint</Application>
  <PresentationFormat>宽屏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镇宇 杨</cp:lastModifiedBy>
  <cp:revision>2</cp:revision>
  <dcterms:created xsi:type="dcterms:W3CDTF">2013-01-27T09:14:16Z</dcterms:created>
  <dcterms:modified xsi:type="dcterms:W3CDTF">2026-07-24T05:36:36Z</dcterms:modified>
  <cp:category/>
</cp:coreProperties>
</file>