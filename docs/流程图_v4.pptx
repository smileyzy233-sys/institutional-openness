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26" autoAdjust="0"/>
  </p:normalViewPr>
  <p:slideViewPr>
    <p:cSldViewPr snapToGrid="0">
      <p:cViewPr varScale="1">
        <p:scale>
          <a:sx n="153" d="100"/>
          <a:sy n="153" d="100"/>
        </p:scale>
        <p:origin x="3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E6E6D-72F2-4549-8630-44306907B3CC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08E9F-8FCD-49CE-A8FC-B44C4B4F7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17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02501C-2ECA-2268-3839-33223399D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B81303-1663-9438-6EC0-61E56E21B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9198E1-5070-FE0E-CA42-310783A4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758DD6-FEB0-E69F-9665-47029B124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148CDB-7210-812B-570A-6D1B0BC1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319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EF15D-B2EA-5DDB-8FF9-AAD494C2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AFDB9-9554-CD06-A977-9E90025D6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866742-0BE0-B67D-9E0E-E709A4706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CB4DEF-6A88-037C-7CFF-695A7508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71FD35-0BCD-887C-AFF0-02313D7E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544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D67EF-CA3B-2052-307E-66AD0A9C1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066C39-DC03-3EB9-A3EA-C595115A7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04AD35-7519-8AAB-0F86-1373133FC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A6EC97-16E6-EE6A-DDB2-2FB3A597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A024B0-D0CA-B9C1-35D2-F5EAC68F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E43EF-F51C-8A8E-4DA4-D3C2130F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FDB6CA-92CB-7CA6-2A2B-4A826B5D5E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0C8C87-BC74-D80D-BDA4-D3F5BCD9D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6BB699-D594-D1C0-4637-0926C6F4A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E81116-2D72-6033-E5BD-A86C1C2D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7D2540-7D20-D8DA-23D3-1C516929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60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B908C-EAB2-4740-832A-8C0045AE0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518141-7DA6-0EA4-B438-E5E030FCC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0FC158-0BCA-B679-299D-E7B540318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A5432F-B1CA-D567-797C-5FC0B664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40BBA1-D736-D9CA-A9AA-88CD739A1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64F392-946B-10D5-990F-E64B59398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E5968A-0B30-E2EC-4963-2B8B51AEE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13D9DE7-BF55-6A54-2B24-DF52B3339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68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F165E-1703-CBD1-0765-5C696A15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CA3B0C-145F-CB55-85D3-6C5DC3AC2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31DDB3-1FD8-40B3-9670-F6099E61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19B23E-11BC-2ADE-60BE-076BB9315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01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89757B-B0DE-C513-56F1-CF867E6EE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11C985-382D-3D18-2BD4-0E75A6244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B30438-9978-32FF-1E6B-F29D2134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35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E723C6-24A6-C0CE-666C-32C02F52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4EBC76-BE55-1C5A-3EA7-C2989CA88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3DF906-71F1-A647-8065-F5364D81B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88A8A1-835A-0AE6-7AB9-187C6EC9B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8054A3-CA45-3B64-2B34-0B9E111A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043BDE-5B55-93CD-0FFC-949358A72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29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FB781-ADC9-8CDA-AAAF-08CC995D2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4C2AA0A-7BC5-8568-88DB-D8CA17F70F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7DCAF6-AA33-A61D-DC8F-AE3D1C501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05E338-0C4B-A013-C7A2-42CB651A1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CE1AA4-7E65-867D-DA53-7092AA00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E351C4-8BB1-8FCF-36E9-418051917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67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D6B56-0589-92BF-9900-BB065533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F684D5-9CE0-0C81-9916-2C16E44FE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CBCFF0-A8D4-CA9A-5570-AA680FCFD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C93FF7-2232-5E0B-9ACB-C6C2D8151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4AAF30-541D-3F9B-8403-043AE038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772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59648F-A3B5-2A57-BCDC-E4B4750CCB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A1788D-8C48-B165-7EE0-7290408E0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946B2-9BEC-E1C3-5FAE-AE970405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6E0D4A-84B7-22A7-11BA-21218DB0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C2BD0C-B7C1-0309-1124-D40B1CE1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595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6556248"/>
            <a:ext cx="1167688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660196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制度型开放指标测算流程｜institutional-openness（pipeline schema v3.0）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14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6F8088-013F-4B39-8CF9-2A5528EBF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BF49A5-166A-26F8-3946-80254AEF8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2DC8B2-A5C7-25C4-EEE5-DE46E82B4B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40B49-8A63-4253-8E00-3B6E2C94DC6A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7390A7-6F64-4DB0-9BF0-EEBF2E94E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14D7EE-405E-A9C5-2EFD-5DFF35823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46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64592"/>
            <a:ext cx="11475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制度型开放指标的主要测算流程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DTA 2.0 条款数据出发，形成协议层与国家对—年份层面的贸易、投资制度型开放指标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060704"/>
            <a:ext cx="1737360" cy="4498848"/>
          </a:xfrm>
          <a:prstGeom prst="roundRect">
            <a:avLst>
              <a:gd name="adj" fmla="val 4211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ysDot"/>
          </a:ln>
        </p:spPr>
      </p:sp>
      <p:sp>
        <p:nvSpPr>
          <p:cNvPr id="5" name="Text 3"/>
          <p:cNvSpPr/>
          <p:nvPr/>
        </p:nvSpPr>
        <p:spPr>
          <a:xfrm>
            <a:off x="411480" y="1133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</a:t>
            </a:r>
            <a:r>
              <a:rPr lang="en-US" sz="1400" b="1" dirty="0" err="1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DTA 2.0 原始数据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84632" y="1810512"/>
            <a:ext cx="1408176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" y="1810513"/>
            <a:ext cx="139674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zh-CN" altLang="zh-CN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DTA 2.0 原始输入</a:t>
            </a:r>
          </a:p>
        </p:txBody>
      </p:sp>
      <p:sp>
        <p:nvSpPr>
          <p:cNvPr id="9" name="Shape 7"/>
          <p:cNvSpPr/>
          <p:nvPr/>
        </p:nvSpPr>
        <p:spPr>
          <a:xfrm>
            <a:off x="484632" y="2807208"/>
            <a:ext cx="140817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3877056"/>
            <a:ext cx="1408176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7204" y="2793492"/>
            <a:ext cx="1377315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保留</a:t>
            </a:r>
            <a:r>
              <a:rPr lang="zh-CN" altLang="zh-CN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协定—条款矩阵</a:t>
            </a:r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和国家对之间协定信息</a:t>
            </a:r>
            <a:endParaRPr lang="zh-CN" altLang="zh-CN" sz="10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8056" y="5175504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步骤一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77440" y="1060704"/>
            <a:ext cx="1938528" cy="4498848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ysDot"/>
          </a:ln>
        </p:spPr>
      </p:sp>
      <p:sp>
        <p:nvSpPr>
          <p:cNvPr id="15" name="Text 13"/>
          <p:cNvSpPr/>
          <p:nvPr/>
        </p:nvSpPr>
        <p:spPr>
          <a:xfrm>
            <a:off x="2468880" y="11338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阶段一：制度属性识别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14173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条款层 Stage 1A + Stage 1B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2596896" y="1810512"/>
            <a:ext cx="1499616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2616" y="1828800"/>
            <a:ext cx="140817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Stage 1A:</a:t>
            </a:r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双模型识别条款是否属于制度型开放条款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346704" y="2633472"/>
            <a:ext cx="0" cy="32918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96896" y="2999232"/>
            <a:ext cx="1499616" cy="786384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2616" y="3017520"/>
            <a:ext cx="140817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Stage 1B</a:t>
            </a: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：</a:t>
            </a:r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双模型识别制度型开放类型条款的主导制度维度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560320" y="4059936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60320" y="4058412"/>
            <a:ext cx="1572768" cy="11079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主导制度维度分为以下四个维度：</a:t>
            </a:r>
            <a:br>
              <a:rPr lang="en-US" altLang="zh-CN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</a:b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规则</a:t>
            </a:r>
            <a:r>
              <a:rPr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(rules</a:t>
            </a: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）</a:t>
            </a:r>
            <a:br>
              <a:rPr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</a:b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规制（</a:t>
            </a:r>
            <a:r>
              <a:rPr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regulation</a:t>
            </a: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）</a:t>
            </a:r>
            <a:endParaRPr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  <a:p>
            <a:pPr algn="ctr"/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管理（</a:t>
            </a:r>
            <a:r>
              <a:rPr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management</a:t>
            </a: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）</a:t>
            </a:r>
            <a:endParaRPr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  <a:p>
            <a:pPr algn="ctr"/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标准（</a:t>
            </a:r>
            <a:r>
              <a:rPr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standards</a:t>
            </a: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）</a:t>
            </a:r>
            <a:endParaRPr lang="en-US" sz="1020" b="1" dirty="0"/>
          </a:p>
        </p:txBody>
      </p:sp>
      <p:sp>
        <p:nvSpPr>
          <p:cNvPr id="24" name="Shape 22"/>
          <p:cNvSpPr/>
          <p:nvPr/>
        </p:nvSpPr>
        <p:spPr>
          <a:xfrm>
            <a:off x="4645152" y="1060704"/>
            <a:ext cx="1993392" cy="4498848"/>
          </a:xfrm>
          <a:prstGeom prst="roundRect">
            <a:avLst>
              <a:gd name="adj" fmla="val 3670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ysDot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5" name="Text 23"/>
          <p:cNvSpPr/>
          <p:nvPr/>
        </p:nvSpPr>
        <p:spPr>
          <a:xfrm>
            <a:off x="4736592" y="11338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阶段二：渠道识别与赋权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141732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条款层 Stage 2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4864608" y="1810512"/>
            <a:ext cx="155448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1828800"/>
            <a:ext cx="14630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Stage 2</a:t>
            </a: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：</a:t>
            </a:r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双模型识别制度型开放条款的直接作用渠道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36591" y="3535810"/>
            <a:ext cx="1810511" cy="163969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76872" y="1060704"/>
            <a:ext cx="1993392" cy="4498848"/>
          </a:xfrm>
          <a:prstGeom prst="roundRect">
            <a:avLst>
              <a:gd name="adj" fmla="val 3670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ysDot"/>
          </a:ln>
        </p:spPr>
      </p:sp>
      <p:sp>
        <p:nvSpPr>
          <p:cNvPr id="34" name="Text 32"/>
          <p:cNvSpPr/>
          <p:nvPr/>
        </p:nvSpPr>
        <p:spPr>
          <a:xfrm>
            <a:off x="7068312" y="11338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阶段三：协</a:t>
            </a:r>
            <a:r>
              <a:rPr lang="zh-CN" alt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</a:t>
            </a:r>
            <a:r>
              <a:rPr lang="en-US" sz="1400" b="1" dirty="0" err="1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层聚合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68312" y="141732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覆盖矩阵 × 条款权重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7178040" y="1847088"/>
            <a:ext cx="1591056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32904" y="1874520"/>
            <a:ext cx="1481328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1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通过</a:t>
            </a:r>
            <a:r>
              <a:rPr lang="en-US" sz="11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协</a:t>
            </a:r>
            <a:r>
              <a:rPr lang="zh-CN" altLang="en-US" sz="11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定</a:t>
            </a:r>
            <a:r>
              <a:rPr lang="en-US" altLang="zh-CN" sz="11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-</a:t>
            </a:r>
            <a:r>
              <a:rPr lang="zh-CN" altLang="en-US" sz="11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条款矩阵汇总计算协定层面的条款</a:t>
            </a:r>
            <a:r>
              <a:rPr lang="en-US" sz="111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贸易得分</a:t>
            </a:r>
            <a:endParaRPr lang="en-US" sz="111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178040" y="2907792"/>
            <a:ext cx="1591056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78040" y="3968496"/>
            <a:ext cx="1591056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78040" y="3995928"/>
            <a:ext cx="1536192" cy="9052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四维度覆盖结构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按主导维度汇总条款覆盖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308592" y="1064860"/>
            <a:ext cx="2542032" cy="4498848"/>
          </a:xfrm>
          <a:prstGeom prst="roundRect">
            <a:avLst>
              <a:gd name="adj" fmla="val 2878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ysDot"/>
          </a:ln>
        </p:spPr>
      </p:sp>
      <p:sp>
        <p:nvSpPr>
          <p:cNvPr id="44" name="Text 42"/>
          <p:cNvSpPr/>
          <p:nvPr/>
        </p:nvSpPr>
        <p:spPr>
          <a:xfrm>
            <a:off x="9400032" y="113385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阶段四：国家对—年份映射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400032" y="141732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依据协定生效、成员关系与多协定合并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9509760" y="1792224"/>
            <a:ext cx="213969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79608" y="2660904"/>
            <a:ext cx="0" cy="30175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509760" y="2999232"/>
            <a:ext cx="2139696" cy="89611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79608" y="3922776"/>
            <a:ext cx="0" cy="31089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445752" y="4270248"/>
            <a:ext cx="2267712" cy="1024128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778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45752" y="4251456"/>
            <a:ext cx="2261616" cy="102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最终输出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国家对—年份制度型贸易开放指数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国家对—年份制度型投资开放指数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及四维度制度结构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093976" y="3319272"/>
            <a:ext cx="210312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352544" y="3319272"/>
            <a:ext cx="219456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675120" y="3319272"/>
            <a:ext cx="228600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006840" y="3319272"/>
            <a:ext cx="228600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8630" y="3867912"/>
            <a:ext cx="1412748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建立条款</a:t>
            </a:r>
            <a:r>
              <a:rPr lang="en-US" altLang="zh-CN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-</a:t>
            </a:r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协定</a:t>
            </a:r>
            <a:r>
              <a:rPr lang="en-US" altLang="zh-CN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-</a:t>
            </a:r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国家对的匹配逻辑</a:t>
            </a:r>
            <a:endParaRPr lang="zh-CN" altLang="zh-CN" sz="10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Arial"/>
            </a:endParaRPr>
          </a:p>
        </p:txBody>
      </p:sp>
      <p:sp>
        <p:nvSpPr>
          <p:cNvPr id="63" name="Shape 52">
            <a:extLst>
              <a:ext uri="{FF2B5EF4-FFF2-40B4-BE49-F238E27FC236}">
                <a16:creationId xmlns:a16="http://schemas.microsoft.com/office/drawing/2014/main" id="{3DAE8CED-124A-AB3C-7AAA-E719EEA32C30}"/>
              </a:ext>
            </a:extLst>
          </p:cNvPr>
          <p:cNvSpPr/>
          <p:nvPr/>
        </p:nvSpPr>
        <p:spPr>
          <a:xfrm>
            <a:off x="1188720" y="2578608"/>
            <a:ext cx="0" cy="22860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65" name="Shape 52">
            <a:extLst>
              <a:ext uri="{FF2B5EF4-FFF2-40B4-BE49-F238E27FC236}">
                <a16:creationId xmlns:a16="http://schemas.microsoft.com/office/drawing/2014/main" id="{8BF64BB0-AFBD-BDEC-1E3D-6BA20240F117}"/>
              </a:ext>
            </a:extLst>
          </p:cNvPr>
          <p:cNvSpPr/>
          <p:nvPr/>
        </p:nvSpPr>
        <p:spPr>
          <a:xfrm>
            <a:off x="1196340" y="3653028"/>
            <a:ext cx="0" cy="22860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3E79677-28BB-21B7-31C0-BEA7CE1B2F14}"/>
              </a:ext>
            </a:extLst>
          </p:cNvPr>
          <p:cNvSpPr txBox="1"/>
          <p:nvPr/>
        </p:nvSpPr>
        <p:spPr>
          <a:xfrm>
            <a:off x="320040" y="5890260"/>
            <a:ext cx="11125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注：</a:t>
            </a:r>
            <a:r>
              <a:rPr lang="zh-CN" altLang="en-US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以上双模型识别的结果接收原则均为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双模型一致则接受，不一致则由仲裁模型进行审核仲裁。当前双模型分别为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deepseek-v4-pro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qwen3.7-plus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，仲裁模型则为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glm-5</a:t>
            </a:r>
            <a:br>
              <a:rPr lang="en-US" altLang="zh-CN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</a:br>
            <a:r>
              <a:rPr lang="zh-CN" altLang="en-US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当前全样本为</a:t>
            </a:r>
            <a:r>
              <a:rPr lang="en-US" altLang="zh-CN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1071</a:t>
            </a:r>
            <a:r>
              <a:rPr lang="zh-CN" altLang="en-US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条可编码条款，其中</a:t>
            </a:r>
            <a:r>
              <a:rPr lang="en-US" altLang="zh-CN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764</a:t>
            </a:r>
            <a:r>
              <a:rPr lang="zh-CN" altLang="en-US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条进入</a:t>
            </a:r>
            <a:r>
              <a:rPr lang="en-US" altLang="zh-CN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Stage2(</a:t>
            </a:r>
            <a:r>
              <a:rPr lang="zh-CN" altLang="en-US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约</a:t>
            </a:r>
            <a:r>
              <a:rPr lang="en-US" altLang="zh-CN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71.3%</a:t>
            </a:r>
            <a:r>
              <a:rPr lang="zh-CN" altLang="en-US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）</a:t>
            </a:r>
            <a:endParaRPr lang="en-US" altLang="zh-CN" sz="11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Noto Serif CJK SC" pitchFamily="34" charset="-120"/>
            </a:endParaRPr>
          </a:p>
          <a:p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A491F138-E3EB-0FC8-1B2E-B7828D132173}"/>
              </a:ext>
            </a:extLst>
          </p:cNvPr>
          <p:cNvGrpSpPr/>
          <p:nvPr/>
        </p:nvGrpSpPr>
        <p:grpSpPr>
          <a:xfrm>
            <a:off x="4736592" y="2766060"/>
            <a:ext cx="1815846" cy="754124"/>
            <a:chOff x="4736592" y="2565148"/>
            <a:chExt cx="1815846" cy="754124"/>
          </a:xfrm>
        </p:grpSpPr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89B25C3A-C1E3-AFC7-03C7-7D2FCA65BF57}"/>
                </a:ext>
              </a:extLst>
            </p:cNvPr>
            <p:cNvSpPr txBox="1"/>
            <p:nvPr/>
          </p:nvSpPr>
          <p:spPr>
            <a:xfrm>
              <a:off x="4736592" y="2578608"/>
              <a:ext cx="864870" cy="55016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C95DD272-DBC2-8BEB-EA34-539A7EFF692E}"/>
                </a:ext>
              </a:extLst>
            </p:cNvPr>
            <p:cNvSpPr txBox="1"/>
            <p:nvPr/>
          </p:nvSpPr>
          <p:spPr>
            <a:xfrm>
              <a:off x="4736592" y="2565148"/>
              <a:ext cx="86487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贸易渠道</a:t>
              </a:r>
              <a:endParaRPr lang="en-US" altLang="zh-CN" sz="105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货物</a:t>
              </a:r>
              <a:r>
                <a:rPr lang="en-US" altLang="zh-CN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跨境服务等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A13766ED-676F-FDE8-EE88-D0ED111F49AD}"/>
                </a:ext>
              </a:extLst>
            </p:cNvPr>
            <p:cNvSpPr txBox="1"/>
            <p:nvPr/>
          </p:nvSpPr>
          <p:spPr>
            <a:xfrm>
              <a:off x="5687568" y="2578608"/>
              <a:ext cx="864870" cy="55016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238E69C-B384-78EC-BACB-7F1DB580E282}"/>
                </a:ext>
              </a:extLst>
            </p:cNvPr>
            <p:cNvSpPr txBox="1"/>
            <p:nvPr/>
          </p:nvSpPr>
          <p:spPr>
            <a:xfrm>
              <a:off x="5687568" y="2582931"/>
              <a:ext cx="86487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投资渠道</a:t>
              </a:r>
              <a:endParaRPr lang="en-US" altLang="zh-CN" sz="105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投资者</a:t>
              </a:r>
              <a:r>
                <a:rPr lang="en-US" altLang="zh-CN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/FDI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商业存在等</a:t>
              </a:r>
            </a:p>
          </p:txBody>
        </p:sp>
        <p:sp>
          <p:nvSpPr>
            <p:cNvPr id="76" name="Shape 53">
              <a:extLst>
                <a:ext uri="{FF2B5EF4-FFF2-40B4-BE49-F238E27FC236}">
                  <a16:creationId xmlns:a16="http://schemas.microsoft.com/office/drawing/2014/main" id="{CDC5F1AA-8677-82D9-82E3-65F52C5C0C02}"/>
                </a:ext>
              </a:extLst>
            </p:cNvPr>
            <p:cNvSpPr/>
            <p:nvPr/>
          </p:nvSpPr>
          <p:spPr>
            <a:xfrm>
              <a:off x="5267706" y="3128772"/>
              <a:ext cx="0" cy="190500"/>
            </a:xfrm>
            <a:prstGeom prst="line">
              <a:avLst/>
            </a:prstGeom>
            <a:noFill/>
            <a:ln w="22860">
              <a:solidFill>
                <a:srgbClr val="000000"/>
              </a:solidFill>
              <a:prstDash val="solid"/>
              <a:headEnd type="none"/>
              <a:tailEnd type="triangle"/>
            </a:ln>
          </p:spPr>
        </p:sp>
        <p:sp>
          <p:nvSpPr>
            <p:cNvPr id="78" name="Shape 53">
              <a:extLst>
                <a:ext uri="{FF2B5EF4-FFF2-40B4-BE49-F238E27FC236}">
                  <a16:creationId xmlns:a16="http://schemas.microsoft.com/office/drawing/2014/main" id="{551BF585-09E0-99AB-3754-9F54D9BF561D}"/>
                </a:ext>
              </a:extLst>
            </p:cNvPr>
            <p:cNvSpPr/>
            <p:nvPr/>
          </p:nvSpPr>
          <p:spPr>
            <a:xfrm>
              <a:off x="6083046" y="3128771"/>
              <a:ext cx="0" cy="190500"/>
            </a:xfrm>
            <a:prstGeom prst="line">
              <a:avLst/>
            </a:prstGeom>
            <a:noFill/>
            <a:ln w="22860">
              <a:solidFill>
                <a:srgbClr val="00000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81" name="Shape 17">
            <a:extLst>
              <a:ext uri="{FF2B5EF4-FFF2-40B4-BE49-F238E27FC236}">
                <a16:creationId xmlns:a16="http://schemas.microsoft.com/office/drawing/2014/main" id="{C7C6CB69-FE99-9C42-125D-8800E1F86753}"/>
              </a:ext>
            </a:extLst>
          </p:cNvPr>
          <p:cNvSpPr/>
          <p:nvPr/>
        </p:nvSpPr>
        <p:spPr>
          <a:xfrm>
            <a:off x="5627370" y="2490849"/>
            <a:ext cx="0" cy="248669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61F8D03B-AC98-B5BE-87F6-6B1E33D62D7C}"/>
              </a:ext>
            </a:extLst>
          </p:cNvPr>
          <p:cNvSpPr txBox="1"/>
          <p:nvPr/>
        </p:nvSpPr>
        <p:spPr>
          <a:xfrm>
            <a:off x="4732035" y="3649980"/>
            <a:ext cx="18105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trade</a:t>
            </a:r>
            <a:r>
              <a:rPr lang="zh-CN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：仅贸易渠道，trade 权重为 1，mp 权重为 0。</a:t>
            </a:r>
            <a:endParaRPr lang="en-US" altLang="zh-CN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zh-CN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mp</a:t>
            </a:r>
            <a:r>
              <a:rPr lang="zh-CN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：仅投资渠道，trade 权重为 0，mp 权重为 1。</a:t>
            </a:r>
            <a:b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both</a:t>
            </a:r>
            <a:r>
              <a:rPr lang="zh-CN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：贸易与投资双渠道，trade 与 mp 权重之和为 1。</a:t>
            </a:r>
            <a:r>
              <a:rPr lang="zh-CN" altLang="zh-CN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none</a:t>
            </a:r>
            <a:r>
              <a:rPr lang="zh-CN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：无直接渠道，trade 与 mp 权重均为 0。</a:t>
            </a:r>
            <a:endParaRPr lang="zh-CN" alt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Text 11">
            <a:extLst>
              <a:ext uri="{FF2B5EF4-FFF2-40B4-BE49-F238E27FC236}">
                <a16:creationId xmlns:a16="http://schemas.microsoft.com/office/drawing/2014/main" id="{A0C23389-6308-FBDD-E6FD-A4EECC761B92}"/>
              </a:ext>
            </a:extLst>
          </p:cNvPr>
          <p:cNvSpPr/>
          <p:nvPr/>
        </p:nvSpPr>
        <p:spPr>
          <a:xfrm>
            <a:off x="2569464" y="5192268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步骤二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14DFA2E3-797C-B55F-E03E-8ED67840ECCC}"/>
              </a:ext>
            </a:extLst>
          </p:cNvPr>
          <p:cNvSpPr/>
          <p:nvPr/>
        </p:nvSpPr>
        <p:spPr>
          <a:xfrm>
            <a:off x="4910328" y="5182872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步骤三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78B711FD-1100-22BE-59FC-F30A7DDEA755}"/>
              </a:ext>
            </a:extLst>
          </p:cNvPr>
          <p:cNvSpPr/>
          <p:nvPr/>
        </p:nvSpPr>
        <p:spPr>
          <a:xfrm>
            <a:off x="7246620" y="5160264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步骤四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80522FB-872E-8ADC-D449-06BBC3DD9AA6}"/>
              </a:ext>
            </a:extLst>
          </p:cNvPr>
          <p:cNvSpPr txBox="1"/>
          <p:nvPr/>
        </p:nvSpPr>
        <p:spPr>
          <a:xfrm>
            <a:off x="7169656" y="3041142"/>
            <a:ext cx="159105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通过协定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条款矩阵汇总计算协定层面的条款投资得分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9E3D5CC-AE6D-9AEF-247A-6352BB49B9F2}"/>
                  </a:ext>
                </a:extLst>
              </p:cNvPr>
              <p:cNvSpPr txBox="1"/>
              <p:nvPr/>
            </p:nvSpPr>
            <p:spPr>
              <a:xfrm>
                <a:off x="9509760" y="1985772"/>
                <a:ext cx="2139696" cy="428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5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识别国家对</a:t>
                </a:r>
                <a:r>
                  <a:rPr lang="en-US" altLang="zh-CN" sz="105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en-US" altLang="zh-CN" sz="105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i,j</a:t>
                </a:r>
                <a:r>
                  <a:rPr lang="en-US" altLang="zh-CN" sz="105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r>
                  <a:rPr lang="zh-CN" altLang="en-US" sz="105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在年份</a:t>
                </a:r>
                <a:r>
                  <a:rPr lang="en-US" altLang="zh-CN" sz="105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t</a:t>
                </a:r>
                <a:r>
                  <a:rPr lang="zh-CN" altLang="en-US" sz="105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正在生效的协定集合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05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𝑖𝑗𝑡</m:t>
                        </m:r>
                      </m:sub>
                    </m:sSub>
                  </m:oMath>
                </a14:m>
                <a:endPara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9E3D5CC-AE6D-9AEF-247A-6352BB49B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0" y="1985772"/>
                <a:ext cx="2139696" cy="428515"/>
              </a:xfrm>
              <a:prstGeom prst="rect">
                <a:avLst/>
              </a:prstGeom>
              <a:blipFill>
                <a:blip r:embed="rId3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>
            <a:extLst>
              <a:ext uri="{FF2B5EF4-FFF2-40B4-BE49-F238E27FC236}">
                <a16:creationId xmlns:a16="http://schemas.microsoft.com/office/drawing/2014/main" id="{D5122D18-4F1F-90B0-942B-E994E8561E60}"/>
              </a:ext>
            </a:extLst>
          </p:cNvPr>
          <p:cNvSpPr txBox="1"/>
          <p:nvPr/>
        </p:nvSpPr>
        <p:spPr>
          <a:xfrm>
            <a:off x="9509760" y="3171455"/>
            <a:ext cx="213969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多协定默认采取“条款并集”每条条款保留最高覆盖，避免重复计数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366</Words>
  <Application>Microsoft Office PowerPoint</Application>
  <PresentationFormat>宽屏</PresentationFormat>
  <Paragraphs>44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Noto Sans CJK SC</vt:lpstr>
      <vt:lpstr>等线</vt:lpstr>
      <vt:lpstr>等线 Light</vt:lpstr>
      <vt:lpstr>宋体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镇宇 杨</dc:creator>
  <cp:lastModifiedBy>镇宇 杨</cp:lastModifiedBy>
  <cp:revision>19</cp:revision>
  <dcterms:created xsi:type="dcterms:W3CDTF">2026-07-24T09:23:42Z</dcterms:created>
  <dcterms:modified xsi:type="dcterms:W3CDTF">2026-07-28T09:19:53Z</dcterms:modified>
</cp:coreProperties>
</file>