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285750" y="1238250"/>
            <a:ext cx="14668500" cy="6200775"/>
            <a:chOff x="285750" y="1238250"/>
            <a:chExt cx="14668500" cy="6200775"/>
          </a:xfrm>
        </p:grpSpPr>
        <p:sp>
          <p:nvSpPr>
            <p:cNvPr id="3" name="Rectangle 3"/>
            <p:cNvSpPr/>
            <p:nvPr/>
          </p:nvSpPr>
          <p:spPr>
            <a:xfrm>
              <a:off x="285750" y="1238250"/>
              <a:ext cx="2381250" cy="5334000"/>
            </a:xfrm>
            <a:prstGeom prst="rect">
              <a:avLst/>
            </a:prstGeom>
            <a:solidFill>
              <a:srgbClr val="FFFFFF"/>
            </a:solidFill>
            <a:ln w="20955">
              <a:solidFill>
                <a:srgbClr val="00000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285750" y="1238250"/>
              <a:ext cx="2381250" cy="51435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000375" y="1238250"/>
              <a:ext cx="4286250" cy="5334000"/>
            </a:xfrm>
            <a:prstGeom prst="rect">
              <a:avLst/>
            </a:prstGeom>
            <a:solidFill>
              <a:srgbClr val="FFFFFF"/>
            </a:solidFill>
            <a:ln w="20955">
              <a:solidFill>
                <a:srgbClr val="00000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3000375" y="1238250"/>
              <a:ext cx="4286250" cy="51435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0" y="1238250"/>
              <a:ext cx="4000500" cy="5334000"/>
            </a:xfrm>
            <a:prstGeom prst="rect">
              <a:avLst/>
            </a:prstGeom>
            <a:solidFill>
              <a:srgbClr val="FFFFFF"/>
            </a:solidFill>
            <a:ln w="20955">
              <a:solidFill>
                <a:srgbClr val="00000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0" y="1238250"/>
              <a:ext cx="4000500" cy="51435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953875" y="1238250"/>
              <a:ext cx="3000375" cy="5334000"/>
            </a:xfrm>
            <a:prstGeom prst="rect">
              <a:avLst/>
            </a:prstGeom>
            <a:solidFill>
              <a:srgbClr val="FFFFFF"/>
            </a:solidFill>
            <a:ln w="20955">
              <a:solidFill>
                <a:srgbClr val="00000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953875" y="1238250"/>
              <a:ext cx="3000375" cy="51435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23875" y="2238375"/>
              <a:ext cx="19050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23875" y="3571875"/>
              <a:ext cx="1905000" cy="1190625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23875" y="5286375"/>
              <a:ext cx="1905000" cy="714375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209925" y="2143125"/>
              <a:ext cx="3857625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09925" y="3476625"/>
              <a:ext cx="3857625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209925" y="4238625"/>
              <a:ext cx="18288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0" y="4238625"/>
              <a:ext cx="18288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09925" y="5143500"/>
              <a:ext cx="18288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38750" y="5143500"/>
              <a:ext cx="18288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76625" y="6076950"/>
              <a:ext cx="33337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29550" y="2143125"/>
              <a:ext cx="35814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29550" y="2857500"/>
              <a:ext cx="1724025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686925" y="2857500"/>
              <a:ext cx="1724025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29550" y="4000500"/>
              <a:ext cx="35814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29550" y="4524375"/>
              <a:ext cx="1724025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686925" y="4524375"/>
              <a:ext cx="1724025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29550" y="5314950"/>
              <a:ext cx="1724025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86925" y="5314950"/>
              <a:ext cx="1724025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6153150"/>
              <a:ext cx="3048000" cy="257175"/>
            </a:xfrm>
            <a:prstGeom prst="roundRect">
              <a:avLst>
                <a:gd name="adj" fmla="val 29630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163425" y="2095500"/>
              <a:ext cx="2581275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2163425" y="3714750"/>
              <a:ext cx="2581275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2163425" y="4905375"/>
              <a:ext cx="2581275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7145">
              <a:solidFill>
                <a:srgbClr val="00000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2163425" y="6191250"/>
              <a:ext cx="2581275" cy="2667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5750" y="6810375"/>
              <a:ext cx="14668500" cy="628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5750" y="6810375"/>
              <a:ext cx="1524000" cy="62865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285750" y="1028700"/>
            <a:ext cx="14668500" cy="6610350"/>
            <a:chOff x="285750" y="1028700"/>
            <a:chExt cx="14668500" cy="6610350"/>
          </a:xfrm>
        </p:grpSpPr>
        <p:sp>
          <p:nvSpPr>
            <p:cNvPr id="37" name="Line 37"/>
            <p:cNvSpPr/>
            <p:nvPr/>
          </p:nvSpPr>
          <p:spPr>
            <a:xfrm>
              <a:off x="285750" y="1028700"/>
              <a:ext cx="14668500" cy="9525"/>
            </a:xfrm>
            <a:custGeom>
              <a:avLst/>
              <a:gdLst/>
              <a:ahLst/>
              <a:cxnLst/>
              <a:rect l="l" t="t" r="r" b="b"/>
              <a:pathLst>
                <a:path w="14668500" h="9525">
                  <a:moveTo>
                    <a:pt x="0" y="0"/>
                  </a:moveTo>
                  <a:lnTo>
                    <a:pt x="14668500" y="0"/>
                  </a:lnTo>
                </a:path>
              </a:pathLst>
            </a:custGeom>
            <a:noFill/>
            <a:ln w="13335">
              <a:solidFill>
                <a:srgbClr val="000000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2724150" y="4000500"/>
              <a:ext cx="20002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7343775" y="4000500"/>
              <a:ext cx="20002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11677650" y="4000500"/>
              <a:ext cx="20002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1476375" y="3162300"/>
              <a:ext cx="1" cy="3143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2" name="Line 42"/>
            <p:cNvSpPr/>
            <p:nvPr/>
          </p:nvSpPr>
          <p:spPr>
            <a:xfrm>
              <a:off x="1476375" y="4781550"/>
              <a:ext cx="1" cy="409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3" name="Line 43"/>
            <p:cNvSpPr/>
            <p:nvPr/>
          </p:nvSpPr>
          <p:spPr>
            <a:xfrm>
              <a:off x="5143500" y="3162300"/>
              <a:ext cx="1" cy="219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>
              <a:off x="5143500" y="3990975"/>
              <a:ext cx="1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5" name="Line 45"/>
            <p:cNvSpPr/>
            <p:nvPr/>
          </p:nvSpPr>
          <p:spPr>
            <a:xfrm>
              <a:off x="5143500" y="5905500"/>
              <a:ext cx="1" cy="952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9620250" y="6048375"/>
              <a:ext cx="1" cy="666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>
              <a:off x="13449300" y="3543300"/>
              <a:ext cx="1" cy="952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8" name="Line 48"/>
            <p:cNvSpPr/>
            <p:nvPr/>
          </p:nvSpPr>
          <p:spPr>
            <a:xfrm>
              <a:off x="13449300" y="4733925"/>
              <a:ext cx="1" cy="952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>
              <a:off x="13449300" y="6067425"/>
              <a:ext cx="1" cy="76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5619750" y="7124700"/>
              <a:ext cx="333375" cy="1"/>
            </a:xfrm>
            <a:prstGeom prst="line">
              <a:avLst/>
            </a:prstGeom>
            <a:noFill/>
            <a:ln w="20955">
              <a:solidFill>
                <a:srgbClr val="000000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9906000" y="7124700"/>
              <a:ext cx="333375" cy="1"/>
            </a:xfrm>
            <a:prstGeom prst="line">
              <a:avLst/>
            </a:prstGeom>
            <a:noFill/>
            <a:ln w="20955">
              <a:solidFill>
                <a:srgbClr val="000000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>
              <a:off x="285750" y="7629525"/>
              <a:ext cx="14668500" cy="9525"/>
            </a:xfrm>
            <a:custGeom>
              <a:avLst/>
              <a:gdLst/>
              <a:ahLst/>
              <a:cxnLst/>
              <a:rect l="l" t="t" r="r" b="b"/>
              <a:pathLst>
                <a:path w="14668500" h="9525">
                  <a:moveTo>
                    <a:pt x="0" y="0"/>
                  </a:moveTo>
                  <a:lnTo>
                    <a:pt x="14668500" y="0"/>
                  </a:lnTo>
                </a:path>
              </a:pathLst>
            </a:custGeom>
            <a:noFill/>
            <a:ln w="11430">
              <a:solidFill>
                <a:srgbClr val="000000"/>
              </a:solidFill>
            </a:ln>
          </p:spPr>
        </p:sp>
      </p:grpSp>
      <p:grpSp>
        <p:nvGrpSpPr>
          <p:cNvPr id="128" name="Group 128"/>
          <p:cNvGrpSpPr/>
          <p:nvPr/>
        </p:nvGrpSpPr>
        <p:grpSpPr>
          <a:xfrm>
            <a:off x="256222" y="225266"/>
            <a:ext cx="14445837" cy="7144465"/>
            <a:chOff x="256222" y="225266"/>
            <a:chExt cx="14445837" cy="7144465"/>
          </a:xfrm>
        </p:grpSpPr>
        <p:sp>
          <p:nvSpPr>
            <p:cNvPr id="54" name="TextBox 54"/>
            <p:cNvSpPr txBox="1"/>
            <p:nvPr/>
          </p:nvSpPr>
          <p:spPr>
            <a:xfrm>
              <a:off x="256222" y="225266"/>
              <a:ext cx="9092809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DTA 条款编码与测度流程：从条款识别到 Trade / MP 数据输出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9558" y="700564"/>
              <a:ext cx="77768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DTA 2.0 条款经制度型识别、四维度分类与贸易/投资渠道映射，形成条款—协定—国家对年份三级数据。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8959" y="1407986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INPUT | DTA 2.0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822092" y="1407986"/>
              <a:ext cx="26428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STAGE 1 | 制度识别 + 四维度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42825" y="1412843"/>
              <a:ext cx="27548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STAGE 2 | Trade / Investment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206066" y="1412843"/>
              <a:ext cx="2495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OUTPUT | DTA / Trade / MP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7721" y="2379345"/>
              <a:ext cx="16973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DTA 2.0 原始输入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0780" y="2666762"/>
              <a:ext cx="9511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协定 × 条款表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994" y="28453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章节与政策领域上下文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2259" y="371284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条款标准化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7022" y="4053840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清洗与字段校验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0761" y="4232434"/>
              <a:ext cx="1251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构造 provision_id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0757" y="4411028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形成协定—条款矩阵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7647" y="5437061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可编码条款矩阵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451" y="5713666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保留协定 / 章节上下文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8476" y="6228016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输入单位：条款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889294" y="2279237"/>
              <a:ext cx="2498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1A 是否属于制度型开放？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249216" y="2619137"/>
              <a:ext cx="3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是：直接改变权利义务、监管条件、行政机制或技术标准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849291" y="2797731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否：纯数量减让、一般合作或信息不足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502455" y="3641693"/>
              <a:ext cx="32725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1B 主导维度：按最直接的制度功能四选一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653523" y="4389310"/>
              <a:ext cx="9416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rules 规则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656886" y="4607671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权利义务、待遇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442359" y="4762452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禁令 / 资格 / 法律后果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485351" y="4394168"/>
              <a:ext cx="1335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regulation 规制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675959" y="4607671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行业 / 市场监管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555694" y="4762452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准入限制、合规约束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376191" y="5299043"/>
              <a:ext cx="14962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management 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656886" y="5512546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行政实施与办理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461861" y="5667327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流程、时限、机构协同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489814" y="5299043"/>
              <a:ext cx="13266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standards 标准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675959" y="5512546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技术 / 质量要求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555694" y="5667327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检验认证、合格评定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632775" y="6166009"/>
              <a:ext cx="30214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Stage 1 输出：dta + dominant_dimension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175977" y="2303336"/>
              <a:ext cx="28885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分别判断两条“直接渠道”是否存在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52460" y="299847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贸易渠道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177665" y="3296698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货物 / 跨境服务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118158" y="3463385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外国商品或供应商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109835" y="299847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投资渠道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147054" y="3296698"/>
              <a:ext cx="8037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投资者 / FDI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905524" y="3463385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商业存在或外资企业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584282" y="4113276"/>
              <a:ext cx="2071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二元组合 → 影响类型与权重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211212" y="4679918"/>
              <a:ext cx="9607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mp | 仅贸易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320088" y="4875657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直接贸易对象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041053" y="5018532"/>
              <a:ext cx="13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trade 1；investment 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086439" y="4679918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tr | 仅投资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177462" y="4875657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直接投资对象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898428" y="5018532"/>
              <a:ext cx="13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trade 0；investment 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130877" y="5470493"/>
              <a:ext cx="11213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both | 双渠道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080058" y="5685282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明确同时覆盖两类对象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894034" y="5828157"/>
              <a:ext cx="1595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trade 0.5；investment 0.5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853212" y="5475351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none | 无直接渠道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877425" y="5685282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贸易、投资对象均不存在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883426" y="5828157"/>
              <a:ext cx="13310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trade 0；investment 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201742" y="6218587"/>
              <a:ext cx="28370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impact_type + trade / investment weights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2909947" y="223647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条款级编码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2919162" y="2713292"/>
              <a:ext cx="1069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dta + dimension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2233077" y="2879979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impact_type：mp / tr / both / none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2499110" y="3046666"/>
              <a:ext cx="19099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trade / investment weights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2937153" y="3860578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协定级指数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2892361" y="4134993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raw_trade_score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2716839" y="42897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raw_investment_score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3051631" y="4444556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四维度覆盖率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2425641" y="5056061"/>
              <a:ext cx="20568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国家对—年份 / 回归数据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2651831" y="5397056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trade_agreement_dummy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2479560" y="5551837"/>
              <a:ext cx="19490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trade_cost_*.dta（贸易成本）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2469809" y="5706618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mp_cost_*.dta（跨国生产 MP）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2385736" y="6261449"/>
              <a:ext cx="21271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DTA 输入 → DTA / Trade / MP 输出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08648" y="702754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质量控制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2861670" y="6962537"/>
              <a:ext cx="17061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Stage 1A / 1B / Stage 2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3015252" y="7141131"/>
              <a:ext cx="13989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模型 A、B 独立编码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230249" y="6962537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结果一致：直接接受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982155" y="7141131"/>
              <a:ext cx="19424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结果分歧：盲审 / 人工仲裁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665157" y="6962537"/>
              <a:ext cx="19109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保留 prompt / hash / run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2055019" y="7141131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可复核、可追溯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272415" y="7763828"/>
            <a:ext cx="8532733" cy="489584"/>
            <a:chOff x="272415" y="7763828"/>
            <a:chExt cx="8532733" cy="489584"/>
          </a:xfrm>
        </p:grpSpPr>
        <p:sp>
          <p:nvSpPr>
            <p:cNvPr id="129" name="TextBox 129"/>
            <p:cNvSpPr txBox="1"/>
            <p:nvPr/>
          </p:nvSpPr>
          <p:spPr>
            <a:xfrm>
              <a:off x="272415" y="7763828"/>
              <a:ext cx="8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注 1 当前复核版本：Stage 1A 共 1,071 条，认定制度型开放 764 条；1A / 1B 冲突分别为 103 / 109 条；Stage 2 一致 682 条、冲突 82 条。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272415" y="8040052"/>
              <a:ext cx="8035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注 2 Stage 2 标签：mp=仅贸易渠道，tr=仅投资渠道，both=双渠道，none=无直接渠道；输出端 MP=跨国生产，二者含义不同。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