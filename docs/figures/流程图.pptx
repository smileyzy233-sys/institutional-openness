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2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4EF1-7101-4464-B288-3844CC56D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57B32-5AFE-4FE6-A444-8DAAA2067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E0DD7-021B-47AD-9770-6FC3FDF44A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DE59-E0A1-423A-B7DE-B1ECB35D64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D9E3-6031-4968-880C-3C7B69E40B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A255-DA35-48F2-8D83-986373A0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286D8-2A18-4C96-9F3A-8D79FC10F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8A49F-B13D-4D33-B79D-F3ED0704D4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C97E9-2001-4E34-96DE-4823839B3A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A445B-A5C6-47C3-BCA7-49D0D4946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56BC-8A0B-4A79-9800-88CB6CC4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71FA4-5B62-49EC-864A-FA7240A93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6E07D-96F6-4DD7-ADB2-577041F508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3B72E-FEB0-4E12-BE27-6C9645BC61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EB5D9-A488-49E5-B072-D696C9FE30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B4831-20BA-42B6-BE8F-A5EA2FCB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1EB0-00F6-456D-AF56-43C87443D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70349-D641-4DB3-A7C8-D965B4A2CE3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3BB6E-97C0-4603-B057-1B3B64EB7C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2B5F5-5294-4529-A0B1-0E720FF101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8863C-0F0F-49D3-9BC6-9CB6B35C3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61D6-1142-4A89-A00F-F81A58F0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3AC94-15FC-49CB-8A5F-8A3FA77BC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C7E65-2769-4711-A128-46417A70E4D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0DB22-AD1A-4923-B4EB-AF22D5E5EB8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E7310D-EAE1-4807-A199-669CF6A782E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B1F79-E4EA-43AA-93B8-16CBEF3BAC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B5CFE-1C51-42C1-89DF-4FB8E0396A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4773B-141E-43F8-9CE0-4904C95371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D820-FAC3-4342-9B54-08599AD7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E27C8-7AF3-47A4-9FFE-0284D8A173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BC82A-DBF0-401C-B3D5-605F686F41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E00C-48FC-4C10-A5B9-11D79896C2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C798A-C673-4750-8190-AD378BB63E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74985-0ADD-4F6D-8D33-964CFFC5D0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EEDB2-5995-4E0D-A6A1-4407A80E0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95D3-A055-42F8-9BD4-3653D01E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B5E1A-113E-49BF-B49F-7D2148D7B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ABCA4-40F5-48D0-8CC8-259282FED6E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4F026-96D5-4BB9-8625-4AF91D34FB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2B83A-00AD-4610-AE0E-612E7179A2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FB3B-A563-4ABA-8301-7AA9C21AF9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79C5-75A7-4C36-B385-AB480334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439D5-0367-4B52-9AE0-BC2DFBE2E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9A812-F3A9-4084-82B8-D89958C0ED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C8741-7727-49FC-9485-A06F51D58F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7F50F-288A-417C-955A-EA2D6C3089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3ABE0-6ECF-44BF-9008-8989FEB26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EADA5-32B0-4796-8CEC-E87FEAC6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0F62A-8D51-4D8E-80C4-D09B82F90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E4E45-4966-475F-AE51-ED70F588B4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0EC2E-E394-47D6-8999-B26C777559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61116-1DC9-45E3-9DB0-259C1A0027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519CE-EC4F-452C-8C5E-A4FBAAE5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AA6FC-070D-4856-B3BE-1BAD057CB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B1765-8AF5-4A40-8693-03365EB057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BF3B9-0E50-4CBF-8FB6-B33562BC97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BEC67-017D-4F6C-94E0-15DDC2C2C7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76178-8D10-40E4-9CE2-E9F4E6C0C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342C3-C6C3-4093-8CB7-373692FBD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624C8-501D-4FB2-94B6-FC56947868E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2026/7/12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EF551-43E4-4BA5-9490-B3DA03ACBD2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20FB-7D4A-4D85-8090-138EF6B7A8B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E4D3244-C378-45C5-BCC9-53CAFF0551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3AEF8F4-FABC-4344-8EA7-80862DFE32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2FE80B-221F-47FC-8109-D56A2F391DD3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1905000" cy="538162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4288">
            <a:solidFill>
              <a:srgbClr val="D0D5D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25202D-E153-4AF4-B2BC-04D30CB86CBC}"/>
              </a:ext>
            </a:extLst>
          </p:cNvPr>
          <p:cNvSpPr>
            <a:spLocks noGrp="1"/>
          </p:cNvSpPr>
          <p:nvPr/>
        </p:nvSpPr>
        <p:spPr>
          <a:xfrm>
            <a:off x="2571750" y="1381125"/>
            <a:ext cx="4000500" cy="5381625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5DD"/>
            </a:solidFill>
          </a:ln>
        </p:spPr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950E61-F402-4C00-92B3-1F80B7F08434}"/>
              </a:ext>
            </a:extLst>
          </p:cNvPr>
          <p:cNvSpPr>
            <a:spLocks noGrp="1"/>
          </p:cNvSpPr>
          <p:nvPr/>
        </p:nvSpPr>
        <p:spPr>
          <a:xfrm>
            <a:off x="6772274" y="1375695"/>
            <a:ext cx="5334000" cy="5381625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4288">
            <a:solidFill>
              <a:srgbClr val="D0D5DD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228549F-CAB1-4188-BE5A-185827CF194B}"/>
              </a:ext>
            </a:extLst>
          </p:cNvPr>
          <p:cNvSpPr>
            <a:spLocks noGrp="1"/>
          </p:cNvSpPr>
          <p:nvPr/>
        </p:nvSpPr>
        <p:spPr>
          <a:xfrm>
            <a:off x="12287250" y="1381125"/>
            <a:ext cx="2476500" cy="5381625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4288">
            <a:solidFill>
              <a:srgbClr val="D0D5DD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78F1DBB-CD37-4C73-94BC-32E3D54D6673}"/>
              </a:ext>
            </a:extLst>
          </p:cNvPr>
          <p:cNvSpPr>
            <a:spLocks noGrp="1"/>
          </p:cNvSpPr>
          <p:nvPr/>
        </p:nvSpPr>
        <p:spPr>
          <a:xfrm>
            <a:off x="476250" y="7010400"/>
            <a:ext cx="142875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4288">
            <a:solidFill>
              <a:srgbClr val="D0D5DD"/>
            </a:solidFill>
          </a:ln>
        </p:spPr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A9E4ECBB-9A8C-483E-B899-88199468A4D7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4173200" cy="9525"/>
          </a:xfrm>
          <a:custGeom>
            <a:avLst/>
            <a:gdLst/>
            <a:ahLst/>
            <a:cxnLst/>
            <a:rect l="l" t="t" r="r" b="b"/>
            <a:pathLst>
              <a:path w="14173200" h="9525">
                <a:moveTo>
                  <a:pt x="0" y="0"/>
                </a:moveTo>
                <a:lnTo>
                  <a:pt x="14173200" y="0"/>
                </a:lnTo>
              </a:path>
            </a:pathLst>
          </a:custGeom>
          <a:noFill/>
          <a:ln w="14288">
            <a:solidFill>
              <a:srgbClr val="D0D5DD"/>
            </a:solidFill>
          </a:ln>
        </p:spPr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3ABFC61-C15A-4D9F-8972-FE330AB4911A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1905000" cy="457200"/>
          </a:xfrm>
          <a:prstGeom prst="roundRect">
            <a:avLst>
              <a:gd name="adj" fmla="val 37500"/>
            </a:avLst>
          </a:prstGeom>
          <a:solidFill>
            <a:srgbClr val="E9EEF5"/>
          </a:solidFill>
          <a:ln>
            <a:noFill/>
          </a:ln>
        </p:spPr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547DE20-9DE1-4C41-8A30-36E6AE3A80DE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905000" cy="17145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5CD9E6FB-BD0F-49D1-985E-92F0498A5586}"/>
              </a:ext>
            </a:extLst>
          </p:cNvPr>
          <p:cNvSpPr>
            <a:spLocks noGrp="1"/>
          </p:cNvSpPr>
          <p:nvPr/>
        </p:nvSpPr>
        <p:spPr>
          <a:xfrm>
            <a:off x="2571750" y="1381125"/>
            <a:ext cx="4000500" cy="457200"/>
          </a:xfrm>
          <a:prstGeom prst="roundRect">
            <a:avLst>
              <a:gd name="adj" fmla="val 37500"/>
            </a:avLst>
          </a:prstGeom>
          <a:solidFill>
            <a:srgbClr val="EAF2FB"/>
          </a:solidFill>
          <a:ln>
            <a:noFill/>
          </a:ln>
        </p:spPr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672D1D5-3689-426A-A3A8-4FDA6F8B0559}"/>
              </a:ext>
            </a:extLst>
          </p:cNvPr>
          <p:cNvSpPr>
            <a:spLocks noGrp="1"/>
          </p:cNvSpPr>
          <p:nvPr/>
        </p:nvSpPr>
        <p:spPr>
          <a:xfrm>
            <a:off x="2571750" y="1666875"/>
            <a:ext cx="4000500" cy="171450"/>
          </a:xfrm>
          <a:prstGeom prst="rect">
            <a:avLst/>
          </a:prstGeom>
          <a:solidFill>
            <a:srgbClr val="EAF2FB"/>
          </a:solidFill>
          <a:ln>
            <a:noFill/>
          </a:ln>
        </p:spPr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1BBFD671-6CF1-4BB9-BC55-A5A09A837EAD}"/>
              </a:ext>
            </a:extLst>
          </p:cNvPr>
          <p:cNvSpPr>
            <a:spLocks noGrp="1"/>
          </p:cNvSpPr>
          <p:nvPr/>
        </p:nvSpPr>
        <p:spPr>
          <a:xfrm>
            <a:off x="6762750" y="1381125"/>
            <a:ext cx="5334000" cy="457200"/>
          </a:xfrm>
          <a:prstGeom prst="roundRect">
            <a:avLst>
              <a:gd name="adj" fmla="val 37500"/>
            </a:avLst>
          </a:prstGeom>
          <a:solidFill>
            <a:srgbClr val="EAF6F2"/>
          </a:solidFill>
          <a:ln>
            <a:noFill/>
          </a:ln>
        </p:spPr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DB4DC5E-E65C-46E7-AC1A-0560DABDB357}"/>
              </a:ext>
            </a:extLst>
          </p:cNvPr>
          <p:cNvSpPr>
            <a:spLocks noGrp="1"/>
          </p:cNvSpPr>
          <p:nvPr/>
        </p:nvSpPr>
        <p:spPr>
          <a:xfrm>
            <a:off x="6762750" y="1666875"/>
            <a:ext cx="5334000" cy="171450"/>
          </a:xfrm>
          <a:prstGeom prst="rect">
            <a:avLst/>
          </a:prstGeom>
          <a:solidFill>
            <a:srgbClr val="EAF6F2"/>
          </a:solidFill>
          <a:ln>
            <a:noFill/>
          </a:ln>
        </p:spPr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ABA2A87D-1F8C-479E-B720-E21A376F7435}"/>
              </a:ext>
            </a:extLst>
          </p:cNvPr>
          <p:cNvSpPr>
            <a:spLocks noGrp="1"/>
          </p:cNvSpPr>
          <p:nvPr/>
        </p:nvSpPr>
        <p:spPr>
          <a:xfrm>
            <a:off x="12287250" y="1381125"/>
            <a:ext cx="2476500" cy="457200"/>
          </a:xfrm>
          <a:prstGeom prst="roundRect">
            <a:avLst>
              <a:gd name="adj" fmla="val 37500"/>
            </a:avLst>
          </a:prstGeom>
          <a:solidFill>
            <a:srgbClr val="F1EFF8"/>
          </a:solidFill>
          <a:ln>
            <a:noFill/>
          </a:ln>
        </p:spPr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0BBF40F4-EF34-4C8A-9D56-C3A5F8E32A1E}"/>
              </a:ext>
            </a:extLst>
          </p:cNvPr>
          <p:cNvSpPr>
            <a:spLocks noGrp="1"/>
          </p:cNvSpPr>
          <p:nvPr/>
        </p:nvSpPr>
        <p:spPr>
          <a:xfrm>
            <a:off x="12287250" y="1666875"/>
            <a:ext cx="2476500" cy="171450"/>
          </a:xfrm>
          <a:prstGeom prst="rect">
            <a:avLst/>
          </a:prstGeom>
          <a:solidFill>
            <a:srgbClr val="F1EFF8"/>
          </a:solidFill>
          <a:ln>
            <a:noFill/>
          </a:ln>
        </p:spPr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7701CD6D-FED7-412B-805D-C41822FC254D}"/>
              </a:ext>
            </a:extLst>
          </p:cNvPr>
          <p:cNvSpPr>
            <a:spLocks noGrp="1"/>
          </p:cNvSpPr>
          <p:nvPr/>
        </p:nvSpPr>
        <p:spPr>
          <a:xfrm>
            <a:off x="714375" y="1962150"/>
            <a:ext cx="1428750" cy="762000"/>
          </a:xfrm>
          <a:prstGeom prst="roundRect">
            <a:avLst>
              <a:gd name="adj" fmla="val 17500"/>
            </a:avLst>
          </a:prstGeom>
          <a:solidFill>
            <a:srgbClr val="F2F4F7"/>
          </a:solidFill>
          <a:ln w="20955">
            <a:solidFill>
              <a:srgbClr val="475467"/>
            </a:solidFill>
          </a:ln>
        </p:spPr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F176CAAE-B47D-4259-A494-7CD98F3363B8}"/>
              </a:ext>
            </a:extLst>
          </p:cNvPr>
          <p:cNvSpPr>
            <a:spLocks noGrp="1"/>
          </p:cNvSpPr>
          <p:nvPr/>
        </p:nvSpPr>
        <p:spPr>
          <a:xfrm>
            <a:off x="714375" y="3105150"/>
            <a:ext cx="142875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0955">
            <a:solidFill>
              <a:srgbClr val="475467"/>
            </a:solidFill>
          </a:ln>
        </p:spPr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803A0690-E583-47B4-B412-4A3B05653A77}"/>
              </a:ext>
            </a:extLst>
          </p:cNvPr>
          <p:cNvSpPr>
            <a:spLocks noGrp="1"/>
          </p:cNvSpPr>
          <p:nvPr/>
        </p:nvSpPr>
        <p:spPr>
          <a:xfrm>
            <a:off x="714375" y="4391025"/>
            <a:ext cx="14287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20955">
            <a:solidFill>
              <a:srgbClr val="475467"/>
            </a:solidFill>
          </a:ln>
        </p:spPr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A76B2EAA-5B51-4E5F-9ECD-E7A23123F62D}"/>
              </a:ext>
            </a:extLst>
          </p:cNvPr>
          <p:cNvSpPr>
            <a:spLocks noGrp="1"/>
          </p:cNvSpPr>
          <p:nvPr/>
        </p:nvSpPr>
        <p:spPr>
          <a:xfrm>
            <a:off x="2781300" y="1924050"/>
            <a:ext cx="1619250" cy="742950"/>
          </a:xfrm>
          <a:prstGeom prst="roundRect">
            <a:avLst>
              <a:gd name="adj" fmla="val 17949"/>
            </a:avLst>
          </a:prstGeom>
          <a:solidFill>
            <a:srgbClr val="EAF2FB"/>
          </a:solidFill>
          <a:ln w="20955">
            <a:solidFill>
              <a:srgbClr val="3778A6"/>
            </a:solidFill>
          </a:ln>
        </p:spPr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2BF42A79-11B8-4B6C-9E61-A64E529297B8}"/>
              </a:ext>
            </a:extLst>
          </p:cNvPr>
          <p:cNvSpPr>
            <a:spLocks noGrp="1"/>
          </p:cNvSpPr>
          <p:nvPr/>
        </p:nvSpPr>
        <p:spPr>
          <a:xfrm>
            <a:off x="4857750" y="1924050"/>
            <a:ext cx="1524000" cy="742950"/>
          </a:xfrm>
          <a:prstGeom prst="roundRect">
            <a:avLst>
              <a:gd name="adj" fmla="val 17949"/>
            </a:avLst>
          </a:prstGeom>
          <a:solidFill>
            <a:srgbClr val="FFF3D8"/>
          </a:solidFill>
          <a:ln w="20955">
            <a:solidFill>
              <a:srgbClr val="A46A10"/>
            </a:solidFill>
          </a:ln>
        </p:spPr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5A662621-1494-40FD-8EFA-1626C5CE0FF9}"/>
              </a:ext>
            </a:extLst>
          </p:cNvPr>
          <p:cNvSpPr>
            <a:spLocks noGrp="1"/>
          </p:cNvSpPr>
          <p:nvPr/>
        </p:nvSpPr>
        <p:spPr>
          <a:xfrm>
            <a:off x="2781300" y="30289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 w="20955">
            <a:solidFill>
              <a:srgbClr val="475467"/>
            </a:solidFill>
          </a:ln>
        </p:spPr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FD886488-E192-45DB-8F6A-9CFC1E797532}"/>
              </a:ext>
            </a:extLst>
          </p:cNvPr>
          <p:cNvSpPr>
            <a:spLocks noGrp="1"/>
          </p:cNvSpPr>
          <p:nvPr/>
        </p:nvSpPr>
        <p:spPr>
          <a:xfrm>
            <a:off x="4857750" y="3028950"/>
            <a:ext cx="1524000" cy="666750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20955">
            <a:solidFill>
              <a:srgbClr val="3778A6"/>
            </a:solidFill>
          </a:ln>
        </p:spPr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02CDC8F9-9C03-400E-839D-AA2D31AF7BA8}"/>
              </a:ext>
            </a:extLst>
          </p:cNvPr>
          <p:cNvSpPr>
            <a:spLocks noGrp="1"/>
          </p:cNvSpPr>
          <p:nvPr/>
        </p:nvSpPr>
        <p:spPr>
          <a:xfrm>
            <a:off x="2781300" y="4191000"/>
            <a:ext cx="1619250" cy="857250"/>
          </a:xfrm>
          <a:prstGeom prst="roundRect">
            <a:avLst>
              <a:gd name="adj" fmla="val 15556"/>
            </a:avLst>
          </a:prstGeom>
          <a:solidFill>
            <a:srgbClr val="EAF2FB"/>
          </a:solidFill>
          <a:ln w="20955">
            <a:solidFill>
              <a:srgbClr val="3778A6"/>
            </a:solidFill>
          </a:ln>
        </p:spPr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962F1B78-F201-4F7C-9C00-10D408617C79}"/>
              </a:ext>
            </a:extLst>
          </p:cNvPr>
          <p:cNvSpPr>
            <a:spLocks noGrp="1"/>
          </p:cNvSpPr>
          <p:nvPr/>
        </p:nvSpPr>
        <p:spPr>
          <a:xfrm>
            <a:off x="4914899" y="4233434"/>
            <a:ext cx="1476375" cy="742950"/>
          </a:xfrm>
          <a:prstGeom prst="roundRect">
            <a:avLst>
              <a:gd name="adj" fmla="val 15556"/>
            </a:avLst>
          </a:prstGeom>
          <a:solidFill>
            <a:srgbClr val="FFF3D8"/>
          </a:solidFill>
          <a:ln w="20955">
            <a:solidFill>
              <a:srgbClr val="A46A1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F3202710-1AD0-45CF-AE1C-4D59DB941119}"/>
              </a:ext>
            </a:extLst>
          </p:cNvPr>
          <p:cNvSpPr>
            <a:spLocks noGrp="1"/>
          </p:cNvSpPr>
          <p:nvPr/>
        </p:nvSpPr>
        <p:spPr>
          <a:xfrm>
            <a:off x="3714750" y="5638800"/>
            <a:ext cx="17145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0955">
            <a:solidFill>
              <a:srgbClr val="3778A6"/>
            </a:solidFill>
          </a:ln>
        </p:spPr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0DACC19E-CB60-4E05-A1E7-C1C6CE097FE5}"/>
              </a:ext>
            </a:extLst>
          </p:cNvPr>
          <p:cNvSpPr>
            <a:spLocks noGrp="1"/>
          </p:cNvSpPr>
          <p:nvPr/>
        </p:nvSpPr>
        <p:spPr>
          <a:xfrm>
            <a:off x="6972300" y="3028950"/>
            <a:ext cx="1676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0955">
            <a:solidFill>
              <a:srgbClr val="2E7D6B"/>
            </a:solidFill>
          </a:ln>
        </p:spPr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53A462B2-9CA8-4BCD-8968-0E53171F4983}"/>
              </a:ext>
            </a:extLst>
          </p:cNvPr>
          <p:cNvSpPr>
            <a:spLocks noGrp="1"/>
          </p:cNvSpPr>
          <p:nvPr/>
        </p:nvSpPr>
        <p:spPr>
          <a:xfrm>
            <a:off x="6972300" y="4362450"/>
            <a:ext cx="167640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0955">
            <a:solidFill>
              <a:srgbClr val="2E7D6B"/>
            </a:solidFill>
          </a:ln>
        </p:spPr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7D1B0318-8A08-48A2-8AB0-46DF3F330D51}"/>
              </a:ext>
            </a:extLst>
          </p:cNvPr>
          <p:cNvSpPr>
            <a:spLocks noGrp="1"/>
          </p:cNvSpPr>
          <p:nvPr/>
        </p:nvSpPr>
        <p:spPr>
          <a:xfrm>
            <a:off x="9067800" y="3676650"/>
            <a:ext cx="1428750" cy="914400"/>
          </a:xfrm>
          <a:prstGeom prst="roundRect">
            <a:avLst>
              <a:gd name="adj" fmla="val 14583"/>
            </a:avLst>
          </a:prstGeom>
          <a:solidFill>
            <a:srgbClr val="EAF6F2"/>
          </a:solidFill>
          <a:ln w="20955">
            <a:solidFill>
              <a:srgbClr val="2E7D6B"/>
            </a:solidFill>
          </a:ln>
        </p:spPr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CB24311A-33F3-452F-83FA-A674B498CA0D}"/>
              </a:ext>
            </a:extLst>
          </p:cNvPr>
          <p:cNvSpPr>
            <a:spLocks noGrp="1"/>
          </p:cNvSpPr>
          <p:nvPr/>
        </p:nvSpPr>
        <p:spPr>
          <a:xfrm>
            <a:off x="10658475" y="2143125"/>
            <a:ext cx="1200150" cy="714375"/>
          </a:xfrm>
          <a:prstGeom prst="roundRect">
            <a:avLst>
              <a:gd name="adj" fmla="val 24356"/>
            </a:avLst>
          </a:prstGeom>
          <a:solidFill>
            <a:srgbClr val="EAF6F2"/>
          </a:solidFill>
          <a:ln w="20955">
            <a:solidFill>
              <a:srgbClr val="2E7D6B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9C69AB79-720C-4C6B-8CA6-4644A47ED716}"/>
              </a:ext>
            </a:extLst>
          </p:cNvPr>
          <p:cNvSpPr>
            <a:spLocks noGrp="1"/>
          </p:cNvSpPr>
          <p:nvPr/>
        </p:nvSpPr>
        <p:spPr>
          <a:xfrm>
            <a:off x="10677523" y="5473080"/>
            <a:ext cx="1200150" cy="714375"/>
          </a:xfrm>
          <a:prstGeom prst="roundRect">
            <a:avLst>
              <a:gd name="adj" fmla="val 18667"/>
            </a:avLst>
          </a:prstGeom>
          <a:solidFill>
            <a:srgbClr val="FFF3D8"/>
          </a:solidFill>
          <a:ln w="20955">
            <a:solidFill>
              <a:srgbClr val="A46A10"/>
            </a:solidFill>
          </a:ln>
        </p:spPr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03554329-4576-456D-9928-4FD63A17FA11}"/>
              </a:ext>
            </a:extLst>
          </p:cNvPr>
          <p:cNvSpPr>
            <a:spLocks noGrp="1"/>
          </p:cNvSpPr>
          <p:nvPr/>
        </p:nvSpPr>
        <p:spPr>
          <a:xfrm>
            <a:off x="10791824" y="3724942"/>
            <a:ext cx="1019175" cy="829246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0955">
            <a:solidFill>
              <a:srgbClr val="2E7D6B"/>
            </a:solidFill>
          </a:ln>
        </p:spPr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046DE1F6-E3E9-40D7-982B-ACCBC83EA92C}"/>
              </a:ext>
            </a:extLst>
          </p:cNvPr>
          <p:cNvSpPr>
            <a:spLocks noGrp="1"/>
          </p:cNvSpPr>
          <p:nvPr/>
        </p:nvSpPr>
        <p:spPr>
          <a:xfrm>
            <a:off x="12496800" y="2266950"/>
            <a:ext cx="2057400" cy="800100"/>
          </a:xfrm>
          <a:prstGeom prst="roundRect">
            <a:avLst>
              <a:gd name="adj" fmla="val 16667"/>
            </a:avLst>
          </a:prstGeom>
          <a:solidFill>
            <a:srgbClr val="F1EFF8"/>
          </a:solidFill>
          <a:ln w="20955">
            <a:solidFill>
              <a:srgbClr val="6D5BA6"/>
            </a:solidFill>
          </a:ln>
        </p:spPr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4FC57731-059A-488E-8334-0AC2E3EA787E}"/>
              </a:ext>
            </a:extLst>
          </p:cNvPr>
          <p:cNvSpPr>
            <a:spLocks noGrp="1"/>
          </p:cNvSpPr>
          <p:nvPr/>
        </p:nvSpPr>
        <p:spPr>
          <a:xfrm>
            <a:off x="12496800" y="3667125"/>
            <a:ext cx="20574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0955">
            <a:solidFill>
              <a:srgbClr val="6D5BA6"/>
            </a:solidFill>
          </a:ln>
        </p:spPr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DDD816CE-B25E-4A34-8CEC-7B86F629AD30}"/>
              </a:ext>
            </a:extLst>
          </p:cNvPr>
          <p:cNvSpPr>
            <a:spLocks noGrp="1"/>
          </p:cNvSpPr>
          <p:nvPr/>
        </p:nvSpPr>
        <p:spPr>
          <a:xfrm>
            <a:off x="12496800" y="5143500"/>
            <a:ext cx="20574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955">
            <a:solidFill>
              <a:srgbClr val="6D5BA6"/>
            </a:solidFill>
          </a:ln>
        </p:spPr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E88DFD34-A425-4FB9-92EA-85DB4F8899AD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A276CDB5-2F4E-473F-9727-86FC072CECE7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712776D4-67CA-41CD-B27B-383202F1DE39}"/>
              </a:ext>
            </a:extLst>
          </p:cNvPr>
          <p:cNvSpPr>
            <a:spLocks noGrp="1"/>
          </p:cNvSpPr>
          <p:nvPr/>
        </p:nvSpPr>
        <p:spPr>
          <a:xfrm>
            <a:off x="2143125" y="2238375"/>
            <a:ext cx="638175" cy="2600325"/>
          </a:xfrm>
          <a:custGeom>
            <a:avLst/>
            <a:gdLst/>
            <a:ahLst/>
            <a:cxnLst/>
            <a:rect l="l" t="t" r="r" b="b"/>
            <a:pathLst>
              <a:path w="638175" h="2600325">
                <a:moveTo>
                  <a:pt x="0" y="2600325"/>
                </a:moveTo>
                <a:lnTo>
                  <a:pt x="314325" y="2600325"/>
                </a:lnTo>
                <a:lnTo>
                  <a:pt x="314325" y="0"/>
                </a:lnTo>
                <a:lnTo>
                  <a:pt x="638175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174A0411-3077-4C67-8CEB-FFCB19283A97}"/>
              </a:ext>
            </a:extLst>
          </p:cNvPr>
          <p:cNvSpPr>
            <a:spLocks noGrp="1"/>
          </p:cNvSpPr>
          <p:nvPr/>
        </p:nvSpPr>
        <p:spPr>
          <a:xfrm>
            <a:off x="4400550" y="223837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6EB50418-E73E-414D-B90A-40D24A37C314}"/>
              </a:ext>
            </a:extLst>
          </p:cNvPr>
          <p:cNvSpPr>
            <a:spLocks noGrp="1"/>
          </p:cNvSpPr>
          <p:nvPr/>
        </p:nvSpPr>
        <p:spPr>
          <a:xfrm>
            <a:off x="5619750" y="2667000"/>
            <a:ext cx="9525" cy="361950"/>
          </a:xfrm>
          <a:custGeom>
            <a:avLst/>
            <a:gdLst/>
            <a:ahLst/>
            <a:cxnLst/>
            <a:rect l="l" t="t" r="r" b="b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A45D9364-F787-4EEB-B3FB-10078FCF4306}"/>
              </a:ext>
            </a:extLst>
          </p:cNvPr>
          <p:cNvSpPr>
            <a:spLocks noGrp="1"/>
          </p:cNvSpPr>
          <p:nvPr/>
        </p:nvSpPr>
        <p:spPr>
          <a:xfrm>
            <a:off x="4400550" y="2409825"/>
            <a:ext cx="457200" cy="952500"/>
          </a:xfrm>
          <a:custGeom>
            <a:avLst/>
            <a:gdLst/>
            <a:ahLst/>
            <a:cxnLst/>
            <a:rect l="l" t="t" r="r" b="b"/>
            <a:pathLst>
              <a:path w="457200" h="952500">
                <a:moveTo>
                  <a:pt x="457200" y="0"/>
                </a:moveTo>
                <a:lnTo>
                  <a:pt x="171450" y="0"/>
                </a:lnTo>
                <a:lnTo>
                  <a:pt x="171450" y="952500"/>
                </a:lnTo>
                <a:lnTo>
                  <a:pt x="0" y="95250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6AFD4FA8-E7CB-44D4-90D1-03D352313A6B}"/>
              </a:ext>
            </a:extLst>
          </p:cNvPr>
          <p:cNvSpPr>
            <a:spLocks noGrp="1"/>
          </p:cNvSpPr>
          <p:nvPr/>
        </p:nvSpPr>
        <p:spPr>
          <a:xfrm>
            <a:off x="3590925" y="3695700"/>
            <a:ext cx="2028825" cy="495300"/>
          </a:xfrm>
          <a:custGeom>
            <a:avLst/>
            <a:gdLst/>
            <a:ahLst/>
            <a:cxnLst/>
            <a:rect l="l" t="t" r="r" b="b"/>
            <a:pathLst>
              <a:path w="2028825" h="495300">
                <a:moveTo>
                  <a:pt x="2028825" y="0"/>
                </a:moveTo>
                <a:lnTo>
                  <a:pt x="2028825" y="304800"/>
                </a:lnTo>
                <a:lnTo>
                  <a:pt x="0" y="304800"/>
                </a:lnTo>
                <a:lnTo>
                  <a:pt x="0" y="49530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5C02426C-789A-4720-85CA-CA5525BC07B3}"/>
              </a:ext>
            </a:extLst>
          </p:cNvPr>
          <p:cNvSpPr>
            <a:spLocks noGrp="1"/>
          </p:cNvSpPr>
          <p:nvPr/>
        </p:nvSpPr>
        <p:spPr>
          <a:xfrm flipV="1">
            <a:off x="4400549" y="4573906"/>
            <a:ext cx="514349" cy="45719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C499508B-B08A-459E-BD67-5880A4A65F9C}"/>
              </a:ext>
            </a:extLst>
          </p:cNvPr>
          <p:cNvSpPr>
            <a:spLocks noGrp="1"/>
          </p:cNvSpPr>
          <p:nvPr/>
        </p:nvSpPr>
        <p:spPr>
          <a:xfrm>
            <a:off x="4572000" y="4976384"/>
            <a:ext cx="1038225" cy="662416"/>
          </a:xfrm>
          <a:custGeom>
            <a:avLst/>
            <a:gdLst/>
            <a:ahLst/>
            <a:cxnLst/>
            <a:rect l="l" t="t" r="r" b="b"/>
            <a:pathLst>
              <a:path w="1047750" h="590550">
                <a:moveTo>
                  <a:pt x="1047750" y="0"/>
                </a:moveTo>
                <a:lnTo>
                  <a:pt x="1047750" y="285750"/>
                </a:lnTo>
                <a:lnTo>
                  <a:pt x="0" y="285750"/>
                </a:lnTo>
                <a:lnTo>
                  <a:pt x="0" y="59055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131DF78A-D9B1-4EDE-9CA1-DF61558E19DA}"/>
              </a:ext>
            </a:extLst>
          </p:cNvPr>
          <p:cNvSpPr>
            <a:spLocks noGrp="1"/>
          </p:cNvSpPr>
          <p:nvPr/>
        </p:nvSpPr>
        <p:spPr>
          <a:xfrm>
            <a:off x="5429250" y="2238375"/>
            <a:ext cx="1543050" cy="3762375"/>
          </a:xfrm>
          <a:custGeom>
            <a:avLst/>
            <a:gdLst/>
            <a:ahLst/>
            <a:cxnLst/>
            <a:rect l="l" t="t" r="r" b="b"/>
            <a:pathLst>
              <a:path w="1543050" h="3762375">
                <a:moveTo>
                  <a:pt x="0" y="3762375"/>
                </a:moveTo>
                <a:lnTo>
                  <a:pt x="1238250" y="3762375"/>
                </a:lnTo>
                <a:lnTo>
                  <a:pt x="1238250" y="0"/>
                </a:lnTo>
                <a:lnTo>
                  <a:pt x="1543050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2" name="Freeform 52">
            <a:extLst>
              <a:ext uri="{FF2B5EF4-FFF2-40B4-BE49-F238E27FC236}">
                <a16:creationId xmlns:a16="http://schemas.microsoft.com/office/drawing/2014/main" id="{28C93995-DB3A-4F74-8E55-9269642F0D49}"/>
              </a:ext>
            </a:extLst>
          </p:cNvPr>
          <p:cNvSpPr>
            <a:spLocks noGrp="1"/>
          </p:cNvSpPr>
          <p:nvPr/>
        </p:nvSpPr>
        <p:spPr>
          <a:xfrm>
            <a:off x="7810500" y="2638425"/>
            <a:ext cx="9525" cy="390525"/>
          </a:xfrm>
          <a:custGeom>
            <a:avLst/>
            <a:gdLst/>
            <a:ahLst/>
            <a:cxnLst/>
            <a:rect l="l" t="t" r="r" b="b"/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3" name="Freeform 53">
            <a:extLst>
              <a:ext uri="{FF2B5EF4-FFF2-40B4-BE49-F238E27FC236}">
                <a16:creationId xmlns:a16="http://schemas.microsoft.com/office/drawing/2014/main" id="{B58F33CD-7B7D-4D69-8F3C-AA2FCF725F08}"/>
              </a:ext>
            </a:extLst>
          </p:cNvPr>
          <p:cNvSpPr>
            <a:spLocks noGrp="1"/>
          </p:cNvSpPr>
          <p:nvPr/>
        </p:nvSpPr>
        <p:spPr>
          <a:xfrm>
            <a:off x="6838950" y="2638425"/>
            <a:ext cx="971550" cy="2162175"/>
          </a:xfrm>
          <a:custGeom>
            <a:avLst/>
            <a:gdLst/>
            <a:ahLst/>
            <a:cxnLst/>
            <a:rect l="l" t="t" r="r" b="b"/>
            <a:pathLst>
              <a:path w="971550" h="1724025">
                <a:moveTo>
                  <a:pt x="971550" y="0"/>
                </a:moveTo>
                <a:lnTo>
                  <a:pt x="0" y="0"/>
                </a:lnTo>
                <a:lnTo>
                  <a:pt x="0" y="1724025"/>
                </a:lnTo>
                <a:lnTo>
                  <a:pt x="133350" y="1724025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2D17A7A8-D1D3-4B4E-B8E1-0FFDCBA4052C}"/>
              </a:ext>
            </a:extLst>
          </p:cNvPr>
          <p:cNvSpPr>
            <a:spLocks noGrp="1"/>
          </p:cNvSpPr>
          <p:nvPr/>
        </p:nvSpPr>
        <p:spPr>
          <a:xfrm>
            <a:off x="8648700" y="3409950"/>
            <a:ext cx="419100" cy="590550"/>
          </a:xfrm>
          <a:custGeom>
            <a:avLst/>
            <a:gdLst/>
            <a:ahLst/>
            <a:cxnLst/>
            <a:rect l="l" t="t" r="r" b="b"/>
            <a:pathLst>
              <a:path w="419100" h="590550">
                <a:moveTo>
                  <a:pt x="0" y="0"/>
                </a:moveTo>
                <a:lnTo>
                  <a:pt x="209550" y="0"/>
                </a:lnTo>
                <a:lnTo>
                  <a:pt x="209550" y="590550"/>
                </a:lnTo>
                <a:lnTo>
                  <a:pt x="419100" y="59055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92C03E1C-9B5A-44B2-BDF2-F16AC27BA61E}"/>
              </a:ext>
            </a:extLst>
          </p:cNvPr>
          <p:cNvSpPr>
            <a:spLocks noGrp="1"/>
          </p:cNvSpPr>
          <p:nvPr/>
        </p:nvSpPr>
        <p:spPr>
          <a:xfrm>
            <a:off x="8648700" y="4305300"/>
            <a:ext cx="419100" cy="438150"/>
          </a:xfrm>
          <a:custGeom>
            <a:avLst/>
            <a:gdLst/>
            <a:ahLst/>
            <a:cxnLst/>
            <a:rect l="l" t="t" r="r" b="b"/>
            <a:pathLst>
              <a:path w="419100" h="438150">
                <a:moveTo>
                  <a:pt x="0" y="438150"/>
                </a:moveTo>
                <a:lnTo>
                  <a:pt x="209550" y="438150"/>
                </a:lnTo>
                <a:lnTo>
                  <a:pt x="209550" y="0"/>
                </a:lnTo>
                <a:lnTo>
                  <a:pt x="419100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770C70CB-3BE0-4928-8C4D-EC621BE7BD69}"/>
              </a:ext>
            </a:extLst>
          </p:cNvPr>
          <p:cNvSpPr>
            <a:spLocks noGrp="1"/>
          </p:cNvSpPr>
          <p:nvPr/>
        </p:nvSpPr>
        <p:spPr>
          <a:xfrm>
            <a:off x="10496550" y="2795856"/>
            <a:ext cx="180972" cy="1204643"/>
          </a:xfrm>
          <a:custGeom>
            <a:avLst/>
            <a:gdLst/>
            <a:ahLst/>
            <a:cxnLst/>
            <a:rect l="l" t="t" r="r" b="b"/>
            <a:pathLst>
              <a:path w="285750" h="876300">
                <a:moveTo>
                  <a:pt x="0" y="876300"/>
                </a:moveTo>
                <a:lnTo>
                  <a:pt x="171450" y="876300"/>
                </a:lnTo>
                <a:lnTo>
                  <a:pt x="171450" y="0"/>
                </a:lnTo>
                <a:lnTo>
                  <a:pt x="285750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7" name="Freeform 57">
            <a:extLst>
              <a:ext uri="{FF2B5EF4-FFF2-40B4-BE49-F238E27FC236}">
                <a16:creationId xmlns:a16="http://schemas.microsoft.com/office/drawing/2014/main" id="{085196CA-AC72-497E-9504-F2CB35517930}"/>
              </a:ext>
            </a:extLst>
          </p:cNvPr>
          <p:cNvSpPr>
            <a:spLocks noGrp="1"/>
          </p:cNvSpPr>
          <p:nvPr/>
        </p:nvSpPr>
        <p:spPr>
          <a:xfrm>
            <a:off x="10496549" y="4305300"/>
            <a:ext cx="180973" cy="1204642"/>
          </a:xfrm>
          <a:custGeom>
            <a:avLst/>
            <a:gdLst/>
            <a:ahLst/>
            <a:cxnLst/>
            <a:rect l="l" t="t" r="r" b="b"/>
            <a:pathLst>
              <a:path w="285750" h="695325">
                <a:moveTo>
                  <a:pt x="0" y="0"/>
                </a:moveTo>
                <a:lnTo>
                  <a:pt x="171450" y="0"/>
                </a:lnTo>
                <a:lnTo>
                  <a:pt x="171450" y="695325"/>
                </a:lnTo>
                <a:lnTo>
                  <a:pt x="285750" y="695325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017AC419-55F5-488D-8F3A-1BD8C41CC5BB}"/>
              </a:ext>
            </a:extLst>
          </p:cNvPr>
          <p:cNvSpPr>
            <a:spLocks noGrp="1"/>
          </p:cNvSpPr>
          <p:nvPr/>
        </p:nvSpPr>
        <p:spPr>
          <a:xfrm>
            <a:off x="13525500" y="3067050"/>
            <a:ext cx="9525" cy="600075"/>
          </a:xfrm>
          <a:custGeom>
            <a:avLst/>
            <a:gdLst/>
            <a:ahLst/>
            <a:cxnLst/>
            <a:rect l="l" t="t" r="r" b="b"/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2811770E-3A25-4EB3-8ECF-C1F9AAD51995}"/>
              </a:ext>
            </a:extLst>
          </p:cNvPr>
          <p:cNvSpPr>
            <a:spLocks noGrp="1"/>
          </p:cNvSpPr>
          <p:nvPr/>
        </p:nvSpPr>
        <p:spPr>
          <a:xfrm>
            <a:off x="13525500" y="4543425"/>
            <a:ext cx="9525" cy="600075"/>
          </a:xfrm>
          <a:custGeom>
            <a:avLst/>
            <a:gdLst/>
            <a:ahLst/>
            <a:cxnLst/>
            <a:rect l="l" t="t" r="r" b="b"/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AA206527-1788-4E3F-9B1F-1297164F016E}"/>
              </a:ext>
            </a:extLst>
          </p:cNvPr>
          <p:cNvSpPr>
            <a:spLocks noGrp="1"/>
          </p:cNvSpPr>
          <p:nvPr/>
        </p:nvSpPr>
        <p:spPr>
          <a:xfrm>
            <a:off x="491490" y="196215"/>
            <a:ext cx="837775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DTA 制度型开放条款编码与指标构建流程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EC67B924-E4A6-45B7-8763-3A0EA8E82FA2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71489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当前正式口径：Stage 1 双模型识别与仲裁；Stage 2 双模型交叉验证与冲突仲裁</a:t>
            </a:r>
          </a:p>
        </p:txBody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23F7A6AF-8030-4C1F-AB0A-1622A5718CEB}"/>
              </a:ext>
            </a:extLst>
          </p:cNvPr>
          <p:cNvSpPr>
            <a:spLocks noGrp="1"/>
          </p:cNvSpPr>
          <p:nvPr/>
        </p:nvSpPr>
        <p:spPr>
          <a:xfrm>
            <a:off x="629602" y="1522571"/>
            <a:ext cx="106374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2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01 数据准备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BF731113-3141-4FEB-9BB6-D1BE842745A0}"/>
              </a:ext>
            </a:extLst>
          </p:cNvPr>
          <p:cNvSpPr>
            <a:spLocks noGrp="1"/>
          </p:cNvSpPr>
          <p:nvPr/>
        </p:nvSpPr>
        <p:spPr>
          <a:xfrm>
            <a:off x="2725102" y="1522571"/>
            <a:ext cx="258013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2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02 Stage 1｜制度型开放识别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EA72BC80-5401-4FF9-AB4D-C140E2136C45}"/>
              </a:ext>
            </a:extLst>
          </p:cNvPr>
          <p:cNvSpPr>
            <a:spLocks noGrp="1"/>
          </p:cNvSpPr>
          <p:nvPr/>
        </p:nvSpPr>
        <p:spPr>
          <a:xfrm>
            <a:off x="6916102" y="1522571"/>
            <a:ext cx="293928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2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03 Stage 2｜贸易/投资影响识别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2C945A3A-67B3-438A-8BBC-E00248FEDEA4}"/>
              </a:ext>
            </a:extLst>
          </p:cNvPr>
          <p:cNvSpPr>
            <a:spLocks noGrp="1"/>
          </p:cNvSpPr>
          <p:nvPr/>
        </p:nvSpPr>
        <p:spPr>
          <a:xfrm>
            <a:off x="12440602" y="1522571"/>
            <a:ext cx="111363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42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04 指标输出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44F960DB-BD42-4022-A0F1-FC2C9C6478BC}"/>
              </a:ext>
            </a:extLst>
          </p:cNvPr>
          <p:cNvSpPr>
            <a:spLocks noGrp="1"/>
          </p:cNvSpPr>
          <p:nvPr/>
        </p:nvSpPr>
        <p:spPr>
          <a:xfrm>
            <a:off x="1011798" y="2116122"/>
            <a:ext cx="83390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DTA 2.0</a:t>
            </a: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3C02401C-D657-4FE5-BF10-578869E6DA82}"/>
              </a:ext>
            </a:extLst>
          </p:cNvPr>
          <p:cNvSpPr>
            <a:spLocks noGrp="1"/>
          </p:cNvSpPr>
          <p:nvPr/>
        </p:nvSpPr>
        <p:spPr>
          <a:xfrm>
            <a:off x="857429" y="2366153"/>
            <a:ext cx="114264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条款原始表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BB17EF28-40D8-4B6F-A94C-3308CD47621B}"/>
              </a:ext>
            </a:extLst>
          </p:cNvPr>
          <p:cNvSpPr>
            <a:spLocks noGrp="1"/>
          </p:cNvSpPr>
          <p:nvPr/>
        </p:nvSpPr>
        <p:spPr>
          <a:xfrm>
            <a:off x="989648" y="334137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条款清洗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3270F10E-0C4F-4EA1-80BE-B354C6C14147}"/>
              </a:ext>
            </a:extLst>
          </p:cNvPr>
          <p:cNvSpPr>
            <a:spLocks noGrp="1"/>
          </p:cNvSpPr>
          <p:nvPr/>
        </p:nvSpPr>
        <p:spPr>
          <a:xfrm>
            <a:off x="837378" y="3579495"/>
            <a:ext cx="118274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唯一 ID 构造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84A83802-791F-44C4-AF8F-53AFB3019E23}"/>
              </a:ext>
            </a:extLst>
          </p:cNvPr>
          <p:cNvSpPr>
            <a:spLocks noGrp="1"/>
          </p:cNvSpPr>
          <p:nvPr/>
        </p:nvSpPr>
        <p:spPr>
          <a:xfrm>
            <a:off x="931890" y="4622482"/>
            <a:ext cx="9937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协定—条款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24AE4ACB-EC3A-461C-B741-CB3A73740DA3}"/>
              </a:ext>
            </a:extLst>
          </p:cNvPr>
          <p:cNvSpPr>
            <a:spLocks noGrp="1"/>
          </p:cNvSpPr>
          <p:nvPr/>
        </p:nvSpPr>
        <p:spPr>
          <a:xfrm>
            <a:off x="1199674" y="4860608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矩阵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3C4A2B2C-ACD1-45D7-8D81-C03F8A6B8795}"/>
              </a:ext>
            </a:extLst>
          </p:cNvPr>
          <p:cNvSpPr>
            <a:spLocks noGrp="1"/>
          </p:cNvSpPr>
          <p:nvPr/>
        </p:nvSpPr>
        <p:spPr>
          <a:xfrm>
            <a:off x="902494" y="5577364"/>
            <a:ext cx="10525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统一条款粒度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5A84371F-017A-44A1-AF4E-9D9DC2BA2F38}"/>
              </a:ext>
            </a:extLst>
          </p:cNvPr>
          <p:cNvSpPr>
            <a:spLocks noGrp="1"/>
          </p:cNvSpPr>
          <p:nvPr/>
        </p:nvSpPr>
        <p:spPr>
          <a:xfrm>
            <a:off x="647462" y="5779770"/>
            <a:ext cx="15625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保留来源字段与文本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4D630834-E903-4A72-A76B-E08F0ECA73B5}"/>
              </a:ext>
            </a:extLst>
          </p:cNvPr>
          <p:cNvSpPr>
            <a:spLocks noGrp="1"/>
          </p:cNvSpPr>
          <p:nvPr/>
        </p:nvSpPr>
        <p:spPr>
          <a:xfrm>
            <a:off x="2992532" y="1993773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1A 双模型判定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684E1379-CAD1-4AEF-A7A5-FDB7E184D04E}"/>
              </a:ext>
            </a:extLst>
          </p:cNvPr>
          <p:cNvSpPr>
            <a:spLocks noGrp="1"/>
          </p:cNvSpPr>
          <p:nvPr/>
        </p:nvSpPr>
        <p:spPr>
          <a:xfrm>
            <a:off x="3158114" y="2208086"/>
            <a:ext cx="865622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制度型开放</a:t>
            </a:r>
            <a:endParaRPr sz="1350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EADCE6A3-81F0-417C-BA99-9BDC60FB51F6}"/>
              </a:ext>
            </a:extLst>
          </p:cNvPr>
          <p:cNvSpPr>
            <a:spLocks noGrp="1"/>
          </p:cNvSpPr>
          <p:nvPr/>
        </p:nvSpPr>
        <p:spPr>
          <a:xfrm>
            <a:off x="3048308" y="2422398"/>
            <a:ext cx="1085233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lang="en-US" altLang="zh-CN" sz="13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N =</a:t>
            </a:r>
            <a:r>
              <a:rPr sz="13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 1,071 条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16484F86-5272-44C2-BF74-AFD6313BDB70}"/>
              </a:ext>
            </a:extLst>
          </p:cNvPr>
          <p:cNvSpPr>
            <a:spLocks noGrp="1"/>
          </p:cNvSpPr>
          <p:nvPr/>
        </p:nvSpPr>
        <p:spPr>
          <a:xfrm>
            <a:off x="5157252" y="2010537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比较与仲裁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7EA09EA2-06ED-4047-B8E4-40CEFBCDF7DF}"/>
              </a:ext>
            </a:extLst>
          </p:cNvPr>
          <p:cNvSpPr>
            <a:spLocks noGrp="1"/>
          </p:cNvSpPr>
          <p:nvPr/>
        </p:nvSpPr>
        <p:spPr>
          <a:xfrm>
            <a:off x="5157252" y="2212943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冲突 103 条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E16D0ED8-7C55-4032-8FB0-5D2542C2A48A}"/>
              </a:ext>
            </a:extLst>
          </p:cNvPr>
          <p:cNvSpPr>
            <a:spLocks noGrp="1"/>
          </p:cNvSpPr>
          <p:nvPr/>
        </p:nvSpPr>
        <p:spPr>
          <a:xfrm>
            <a:off x="5063528" y="2415350"/>
            <a:ext cx="11124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冲突率 9.62%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5BDD49B7-80C7-43A7-A39C-EFF647EC5C31}"/>
              </a:ext>
            </a:extLst>
          </p:cNvPr>
          <p:cNvSpPr>
            <a:spLocks noGrp="1"/>
          </p:cNvSpPr>
          <p:nvPr/>
        </p:nvSpPr>
        <p:spPr>
          <a:xfrm>
            <a:off x="3039166" y="3077337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非制度型开放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9534F8EA-57D9-4304-B181-E0EC05C28D4A}"/>
              </a:ext>
            </a:extLst>
          </p:cNvPr>
          <p:cNvSpPr>
            <a:spLocks noGrp="1"/>
          </p:cNvSpPr>
          <p:nvPr/>
        </p:nvSpPr>
        <p:spPr>
          <a:xfrm>
            <a:off x="3311412" y="3279743"/>
            <a:ext cx="5590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307 条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030D3A5F-BA89-4D7D-BB75-8CE9D578E0E0}"/>
              </a:ext>
            </a:extLst>
          </p:cNvPr>
          <p:cNvSpPr>
            <a:spLocks noGrp="1"/>
          </p:cNvSpPr>
          <p:nvPr/>
        </p:nvSpPr>
        <p:spPr>
          <a:xfrm>
            <a:off x="2878495" y="3482150"/>
            <a:ext cx="14248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→ not_applicable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CBA54A6A-2AF2-47B9-A270-F1F3F581D09F}"/>
              </a:ext>
            </a:extLst>
          </p:cNvPr>
          <p:cNvSpPr>
            <a:spLocks noGrp="1"/>
          </p:cNvSpPr>
          <p:nvPr/>
        </p:nvSpPr>
        <p:spPr>
          <a:xfrm>
            <a:off x="5157252" y="3077337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制度型开放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010FBC1-FFE4-4BF9-9ABA-7D56242D4DC4}"/>
              </a:ext>
            </a:extLst>
          </p:cNvPr>
          <p:cNvSpPr>
            <a:spLocks noGrp="1"/>
          </p:cNvSpPr>
          <p:nvPr/>
        </p:nvSpPr>
        <p:spPr>
          <a:xfrm>
            <a:off x="5340237" y="3279743"/>
            <a:ext cx="5590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764 条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543AA5D1-308C-4ECB-913D-092AEE41A39D}"/>
              </a:ext>
            </a:extLst>
          </p:cNvPr>
          <p:cNvSpPr>
            <a:spLocks noGrp="1"/>
          </p:cNvSpPr>
          <p:nvPr/>
        </p:nvSpPr>
        <p:spPr>
          <a:xfrm>
            <a:off x="4898394" y="3482150"/>
            <a:ext cx="144271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进入</a:t>
            </a:r>
            <a:r>
              <a:rPr sz="1275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 Stage 1B / 2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80667919-D1C1-4094-92E1-2DDF3841726B}"/>
              </a:ext>
            </a:extLst>
          </p:cNvPr>
          <p:cNvSpPr>
            <a:spLocks noGrp="1"/>
          </p:cNvSpPr>
          <p:nvPr/>
        </p:nvSpPr>
        <p:spPr>
          <a:xfrm>
            <a:off x="2798111" y="4233434"/>
            <a:ext cx="1585627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lang="en-US" altLang="zh-CN" sz="1275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Stage 1B</a:t>
            </a:r>
            <a:r>
              <a:rPr sz="1275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双模型判定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ABCA8E10-7076-4D56-83B5-A55488558820}"/>
              </a:ext>
            </a:extLst>
          </p:cNvPr>
          <p:cNvSpPr>
            <a:spLocks noGrp="1"/>
          </p:cNvSpPr>
          <p:nvPr/>
        </p:nvSpPr>
        <p:spPr>
          <a:xfrm>
            <a:off x="3039166" y="4435840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四类制度维度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5FB082B-951F-40DF-B122-049165FF87D5}"/>
              </a:ext>
            </a:extLst>
          </p:cNvPr>
          <p:cNvSpPr>
            <a:spLocks noGrp="1"/>
          </p:cNvSpPr>
          <p:nvPr/>
        </p:nvSpPr>
        <p:spPr>
          <a:xfrm>
            <a:off x="3168594" y="4638246"/>
            <a:ext cx="8446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规则·规制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9C40E77D-B3CD-494A-B64F-23C016FAD9E0}"/>
              </a:ext>
            </a:extLst>
          </p:cNvPr>
          <p:cNvSpPr>
            <a:spLocks noGrp="1"/>
          </p:cNvSpPr>
          <p:nvPr/>
        </p:nvSpPr>
        <p:spPr>
          <a:xfrm>
            <a:off x="3168594" y="4840653"/>
            <a:ext cx="8446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管理·标准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5D8938C5-7CB9-4DAC-970D-733641300300}"/>
              </a:ext>
            </a:extLst>
          </p:cNvPr>
          <p:cNvSpPr>
            <a:spLocks noGrp="1"/>
          </p:cNvSpPr>
          <p:nvPr/>
        </p:nvSpPr>
        <p:spPr>
          <a:xfrm>
            <a:off x="5184458" y="4310348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比较与仲裁</a:t>
            </a:r>
            <a:endParaRPr sz="1200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B7EA8417-61FA-434F-8A0E-6E289CEB569A}"/>
              </a:ext>
            </a:extLst>
          </p:cNvPr>
          <p:cNvSpPr>
            <a:spLocks noGrp="1"/>
          </p:cNvSpPr>
          <p:nvPr/>
        </p:nvSpPr>
        <p:spPr>
          <a:xfrm>
            <a:off x="5189219" y="4518136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冲突</a:t>
            </a:r>
            <a:r>
              <a:rPr sz="120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 109 条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B00F2FB1-1997-4CF9-9674-EE69C85D1194}"/>
              </a:ext>
            </a:extLst>
          </p:cNvPr>
          <p:cNvSpPr>
            <a:spLocks noGrp="1"/>
          </p:cNvSpPr>
          <p:nvPr/>
        </p:nvSpPr>
        <p:spPr>
          <a:xfrm>
            <a:off x="5145059" y="4710874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冲突率</a:t>
            </a:r>
            <a:r>
              <a:rPr sz="120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 14.27%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26B1386A-BBB0-420E-BCDC-064A741F66AF}"/>
              </a:ext>
            </a:extLst>
          </p:cNvPr>
          <p:cNvSpPr>
            <a:spLocks noGrp="1"/>
          </p:cNvSpPr>
          <p:nvPr/>
        </p:nvSpPr>
        <p:spPr>
          <a:xfrm>
            <a:off x="3831840" y="5806154"/>
            <a:ext cx="14803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Stage 1 最终结果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424A6D5B-0D28-49EE-AF03-1D96130F4449}"/>
              </a:ext>
            </a:extLst>
          </p:cNvPr>
          <p:cNvSpPr>
            <a:spLocks noGrp="1"/>
          </p:cNvSpPr>
          <p:nvPr/>
        </p:nvSpPr>
        <p:spPr>
          <a:xfrm>
            <a:off x="3690072" y="6020467"/>
            <a:ext cx="17638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条款属性 + 制度维度</a:t>
            </a: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F8F0BE8B-EB87-4D96-BE2F-77D3B26374C9}"/>
              </a:ext>
            </a:extLst>
          </p:cNvPr>
          <p:cNvSpPr>
            <a:spLocks noGrp="1"/>
          </p:cNvSpPr>
          <p:nvPr/>
        </p:nvSpPr>
        <p:spPr>
          <a:xfrm>
            <a:off x="7194585" y="3236976"/>
            <a:ext cx="12318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模型 A 独立编码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8CB6F23D-C36B-4938-93CE-4AD189ABB010}"/>
              </a:ext>
            </a:extLst>
          </p:cNvPr>
          <p:cNvSpPr>
            <a:spLocks noGrp="1"/>
          </p:cNvSpPr>
          <p:nvPr/>
        </p:nvSpPr>
        <p:spPr>
          <a:xfrm>
            <a:off x="6934152" y="3427476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mp / tr / both / none</a:t>
            </a:r>
          </a:p>
        </p:txBody>
      </p:sp>
      <p:sp>
        <p:nvSpPr>
          <p:cNvPr id="106" name="TextBox 106">
            <a:extLst>
              <a:ext uri="{FF2B5EF4-FFF2-40B4-BE49-F238E27FC236}">
                <a16:creationId xmlns:a16="http://schemas.microsoft.com/office/drawing/2014/main" id="{5135F3D2-F87C-49DC-87D8-CB4D6737BDA3}"/>
              </a:ext>
            </a:extLst>
          </p:cNvPr>
          <p:cNvSpPr>
            <a:spLocks noGrp="1"/>
          </p:cNvSpPr>
          <p:nvPr/>
        </p:nvSpPr>
        <p:spPr>
          <a:xfrm>
            <a:off x="7194585" y="4570476"/>
            <a:ext cx="12318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模型 B 独立编码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4C162D7E-BFB8-4776-90A1-A46E98103E7E}"/>
              </a:ext>
            </a:extLst>
          </p:cNvPr>
          <p:cNvSpPr>
            <a:spLocks noGrp="1"/>
          </p:cNvSpPr>
          <p:nvPr/>
        </p:nvSpPr>
        <p:spPr>
          <a:xfrm>
            <a:off x="6934152" y="4760976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mp / tr / both / none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0CD169C8-2485-4CF4-BD11-3159372FFA29}"/>
              </a:ext>
            </a:extLst>
          </p:cNvPr>
          <p:cNvSpPr>
            <a:spLocks noGrp="1"/>
          </p:cNvSpPr>
          <p:nvPr/>
        </p:nvSpPr>
        <p:spPr>
          <a:xfrm>
            <a:off x="9319677" y="3848862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一致性比较</a:t>
            </a: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EC0A3AB7-95CB-4FF4-A682-B6EC289A7AE4}"/>
              </a:ext>
            </a:extLst>
          </p:cNvPr>
          <p:cNvSpPr>
            <a:spLocks noGrp="1"/>
          </p:cNvSpPr>
          <p:nvPr/>
        </p:nvSpPr>
        <p:spPr>
          <a:xfrm>
            <a:off x="9230416" y="4051268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仅按影响类型</a:t>
            </a:r>
          </a:p>
        </p:txBody>
      </p:sp>
      <p:sp>
        <p:nvSpPr>
          <p:cNvPr id="110" name="TextBox 110">
            <a:extLst>
              <a:ext uri="{FF2B5EF4-FFF2-40B4-BE49-F238E27FC236}">
                <a16:creationId xmlns:a16="http://schemas.microsoft.com/office/drawing/2014/main" id="{15D448EB-3428-4ABA-9AD7-B8985727CA95}"/>
              </a:ext>
            </a:extLst>
          </p:cNvPr>
          <p:cNvSpPr>
            <a:spLocks noGrp="1"/>
          </p:cNvSpPr>
          <p:nvPr/>
        </p:nvSpPr>
        <p:spPr>
          <a:xfrm>
            <a:off x="9230416" y="4253674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核验权重规则</a:t>
            </a:r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BF655842-7588-4FDB-BA23-D47F4E451CCF}"/>
              </a:ext>
            </a:extLst>
          </p:cNvPr>
          <p:cNvSpPr>
            <a:spLocks noGrp="1"/>
          </p:cNvSpPr>
          <p:nvPr/>
        </p:nvSpPr>
        <p:spPr>
          <a:xfrm>
            <a:off x="10885313" y="2215325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一致样本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TextBox 112">
            <a:extLst>
              <a:ext uri="{FF2B5EF4-FFF2-40B4-BE49-F238E27FC236}">
                <a16:creationId xmlns:a16="http://schemas.microsoft.com/office/drawing/2014/main" id="{54D356D8-4D1D-41B2-A3E8-4349AB9FC2A8}"/>
              </a:ext>
            </a:extLst>
          </p:cNvPr>
          <p:cNvSpPr>
            <a:spLocks noGrp="1"/>
          </p:cNvSpPr>
          <p:nvPr/>
        </p:nvSpPr>
        <p:spPr>
          <a:xfrm>
            <a:off x="10885313" y="2417731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直接接受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TextBox 113">
            <a:extLst>
              <a:ext uri="{FF2B5EF4-FFF2-40B4-BE49-F238E27FC236}">
                <a16:creationId xmlns:a16="http://schemas.microsoft.com/office/drawing/2014/main" id="{561A1A44-F8F6-40E2-AF2B-02AFDBDD7136}"/>
              </a:ext>
            </a:extLst>
          </p:cNvPr>
          <p:cNvSpPr>
            <a:spLocks noGrp="1"/>
          </p:cNvSpPr>
          <p:nvPr/>
        </p:nvSpPr>
        <p:spPr>
          <a:xfrm>
            <a:off x="10979037" y="2620137"/>
            <a:ext cx="5590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682 条</a:t>
            </a: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8C977EB6-3034-4A8C-BFE7-843AF9225ECF}"/>
              </a:ext>
            </a:extLst>
          </p:cNvPr>
          <p:cNvSpPr>
            <a:spLocks noGrp="1"/>
          </p:cNvSpPr>
          <p:nvPr/>
        </p:nvSpPr>
        <p:spPr>
          <a:xfrm>
            <a:off x="10904361" y="554527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冲突样本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31FCE3D9-1DC4-4D0D-A3F1-84CBBB1302F6}"/>
              </a:ext>
            </a:extLst>
          </p:cNvPr>
          <p:cNvSpPr>
            <a:spLocks noGrp="1"/>
          </p:cNvSpPr>
          <p:nvPr/>
        </p:nvSpPr>
        <p:spPr>
          <a:xfrm>
            <a:off x="10855267" y="5747686"/>
            <a:ext cx="8446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盲审</a:t>
            </a:r>
            <a:r>
              <a:rPr sz="1275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仲裁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E9AA06C5-9CB5-4988-BF3B-DE8F91A03CA0}"/>
              </a:ext>
            </a:extLst>
          </p:cNvPr>
          <p:cNvSpPr>
            <a:spLocks noGrp="1"/>
          </p:cNvSpPr>
          <p:nvPr/>
        </p:nvSpPr>
        <p:spPr>
          <a:xfrm>
            <a:off x="11047179" y="5950092"/>
            <a:ext cx="46083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75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82 条</a:t>
            </a: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A7FB8E71-2AE2-4E7A-B524-BC67675C6A3F}"/>
              </a:ext>
            </a:extLst>
          </p:cNvPr>
          <p:cNvSpPr>
            <a:spLocks noGrp="1"/>
          </p:cNvSpPr>
          <p:nvPr/>
        </p:nvSpPr>
        <p:spPr>
          <a:xfrm>
            <a:off x="10858499" y="3970035"/>
            <a:ext cx="895351" cy="3924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275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最终影响类型与</a:t>
            </a:r>
            <a:r>
              <a:rPr lang="zh-CN" altLang="en-US" sz="1275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权重</a:t>
            </a:r>
            <a:endParaRPr sz="1275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55FE5A29-BAE7-46B6-B88B-9EBAC3832110}"/>
              </a:ext>
            </a:extLst>
          </p:cNvPr>
          <p:cNvSpPr>
            <a:spLocks noGrp="1"/>
          </p:cNvSpPr>
          <p:nvPr/>
        </p:nvSpPr>
        <p:spPr>
          <a:xfrm>
            <a:off x="13086398" y="2450782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条款层面</a:t>
            </a:r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D23F05B6-9203-4BB0-87B1-3774FA990274}"/>
              </a:ext>
            </a:extLst>
          </p:cNvPr>
          <p:cNvSpPr>
            <a:spLocks noGrp="1"/>
          </p:cNvSpPr>
          <p:nvPr/>
        </p:nvSpPr>
        <p:spPr>
          <a:xfrm>
            <a:off x="12818614" y="2688908"/>
            <a:ext cx="14137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贸易/投资权重</a:t>
            </a: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07ADB46B-9344-4F5C-8E2B-722CA6828D77}"/>
              </a:ext>
            </a:extLst>
          </p:cNvPr>
          <p:cNvSpPr>
            <a:spLocks noGrp="1"/>
          </p:cNvSpPr>
          <p:nvPr/>
        </p:nvSpPr>
        <p:spPr>
          <a:xfrm>
            <a:off x="12876371" y="3889058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协定层面指数</a:t>
            </a:r>
          </a:p>
        </p:txBody>
      </p:sp>
      <p:sp>
        <p:nvSpPr>
          <p:cNvPr id="125" name="TextBox 125">
            <a:extLst>
              <a:ext uri="{FF2B5EF4-FFF2-40B4-BE49-F238E27FC236}">
                <a16:creationId xmlns:a16="http://schemas.microsoft.com/office/drawing/2014/main" id="{9F60BDC6-C65D-4C27-95F5-87EDF11CA278}"/>
              </a:ext>
            </a:extLst>
          </p:cNvPr>
          <p:cNvSpPr>
            <a:spLocks noGrp="1"/>
          </p:cNvSpPr>
          <p:nvPr/>
        </p:nvSpPr>
        <p:spPr>
          <a:xfrm>
            <a:off x="12986635" y="4127182"/>
            <a:ext cx="10777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400 份协定</a:t>
            </a: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CE421C2A-F8CC-4AE1-979B-FB619077780D}"/>
              </a:ext>
            </a:extLst>
          </p:cNvPr>
          <p:cNvSpPr>
            <a:spLocks noGrp="1"/>
          </p:cNvSpPr>
          <p:nvPr/>
        </p:nvSpPr>
        <p:spPr>
          <a:xfrm>
            <a:off x="12794791" y="5317998"/>
            <a:ext cx="14614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国家对—年份面板</a:t>
            </a:r>
          </a:p>
        </p:txBody>
      </p:sp>
      <p:sp>
        <p:nvSpPr>
          <p:cNvPr id="127" name="TextBox 127">
            <a:extLst>
              <a:ext uri="{FF2B5EF4-FFF2-40B4-BE49-F238E27FC236}">
                <a16:creationId xmlns:a16="http://schemas.microsoft.com/office/drawing/2014/main" id="{5BFDDB6F-A895-4993-931A-A33331A12B17}"/>
              </a:ext>
            </a:extLst>
          </p:cNvPr>
          <p:cNvSpPr>
            <a:spLocks noGrp="1"/>
          </p:cNvSpPr>
          <p:nvPr/>
        </p:nvSpPr>
        <p:spPr>
          <a:xfrm>
            <a:off x="12695553" y="5532311"/>
            <a:ext cx="1659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指标 / 生效 dummy</a:t>
            </a: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29ED6C23-94DB-4C9B-9750-2CEE4712F603}"/>
              </a:ext>
            </a:extLst>
          </p:cNvPr>
          <p:cNvSpPr>
            <a:spLocks noGrp="1"/>
          </p:cNvSpPr>
          <p:nvPr/>
        </p:nvSpPr>
        <p:spPr>
          <a:xfrm>
            <a:off x="12941284" y="5746623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及理想点距离</a:t>
            </a:r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2456B7A9-3CD2-4B9B-B8D8-7583F31742FE}"/>
              </a:ext>
            </a:extLst>
          </p:cNvPr>
          <p:cNvSpPr>
            <a:spLocks noGrp="1"/>
          </p:cNvSpPr>
          <p:nvPr/>
        </p:nvSpPr>
        <p:spPr>
          <a:xfrm>
            <a:off x="12654153" y="6347460"/>
            <a:ext cx="17426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最终全期表：1958—2023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00E7D36B-4C6D-401E-80F9-833F815083AB}"/>
              </a:ext>
            </a:extLst>
          </p:cNvPr>
          <p:cNvSpPr>
            <a:spLocks noGrp="1"/>
          </p:cNvSpPr>
          <p:nvPr/>
        </p:nvSpPr>
        <p:spPr>
          <a:xfrm>
            <a:off x="13078206" y="6537960"/>
            <a:ext cx="8945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76 个经济体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53449A1A-AB5D-4D00-BB99-44C9A449A4EF}"/>
              </a:ext>
            </a:extLst>
          </p:cNvPr>
          <p:cNvSpPr>
            <a:spLocks noGrp="1"/>
          </p:cNvSpPr>
          <p:nvPr/>
        </p:nvSpPr>
        <p:spPr>
          <a:xfrm>
            <a:off x="704850" y="717232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影响类型与进入条件</a:t>
            </a: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0B96E472-1FF6-42A0-BBD1-C69E65C7985E}"/>
              </a:ext>
            </a:extLst>
          </p:cNvPr>
          <p:cNvSpPr>
            <a:spLocks noGrp="1"/>
          </p:cNvSpPr>
          <p:nvPr/>
        </p:nvSpPr>
        <p:spPr>
          <a:xfrm>
            <a:off x="707708" y="7539514"/>
            <a:ext cx="80828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75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mp：仅直接作用于贸易；tr：仅直接作用于跨境投资；both：两条渠道均存在，权重均大于 0 且合计为 1。</a:t>
            </a:r>
          </a:p>
        </p:txBody>
      </p:sp>
      <p:sp>
        <p:nvSpPr>
          <p:cNvPr id="133" name="TextBox 133">
            <a:extLst>
              <a:ext uri="{FF2B5EF4-FFF2-40B4-BE49-F238E27FC236}">
                <a16:creationId xmlns:a16="http://schemas.microsoft.com/office/drawing/2014/main" id="{CA7352ED-C9D8-407D-AB95-CA0550E0D90F}"/>
              </a:ext>
            </a:extLst>
          </p:cNvPr>
          <p:cNvSpPr>
            <a:spLocks noGrp="1"/>
          </p:cNvSpPr>
          <p:nvPr/>
        </p:nvSpPr>
        <p:spPr>
          <a:xfrm>
            <a:off x="707708" y="7825264"/>
            <a:ext cx="8898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none：已进入 Stage 2，但无直接贸易/投资影响；not_applicable：Stage 1 判定为非制度型开放，未进入 Stage 2。</a:t>
            </a:r>
          </a:p>
        </p:txBody>
      </p:sp>
      <p:sp>
        <p:nvSpPr>
          <p:cNvPr id="19" name="Freeform 42">
            <a:extLst>
              <a:ext uri="{FF2B5EF4-FFF2-40B4-BE49-F238E27FC236}">
                <a16:creationId xmlns:a16="http://schemas.microsoft.com/office/drawing/2014/main" id="{904F574F-04CF-ABFC-80FC-0AF0EDA6EA07}"/>
              </a:ext>
            </a:extLst>
          </p:cNvPr>
          <p:cNvSpPr>
            <a:spLocks noGrp="1"/>
          </p:cNvSpPr>
          <p:nvPr/>
        </p:nvSpPr>
        <p:spPr>
          <a:xfrm>
            <a:off x="11268074" y="2847976"/>
            <a:ext cx="57151" cy="847724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64" name="Freeform 42">
            <a:extLst>
              <a:ext uri="{FF2B5EF4-FFF2-40B4-BE49-F238E27FC236}">
                <a16:creationId xmlns:a16="http://schemas.microsoft.com/office/drawing/2014/main" id="{066CDFFA-A3BB-D49C-3946-F0758342EAC5}"/>
              </a:ext>
            </a:extLst>
          </p:cNvPr>
          <p:cNvSpPr>
            <a:spLocks noGrp="1"/>
          </p:cNvSpPr>
          <p:nvPr/>
        </p:nvSpPr>
        <p:spPr>
          <a:xfrm rot="10800000" flipH="1">
            <a:off x="11277597" y="4560538"/>
            <a:ext cx="57151" cy="912542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</p:sp>
      <p:sp>
        <p:nvSpPr>
          <p:cNvPr id="135" name="Freeform 44">
            <a:extLst>
              <a:ext uri="{FF2B5EF4-FFF2-40B4-BE49-F238E27FC236}">
                <a16:creationId xmlns:a16="http://schemas.microsoft.com/office/drawing/2014/main" id="{3B86B33F-BB30-26C9-960A-D0EF234CCEB6}"/>
              </a:ext>
            </a:extLst>
          </p:cNvPr>
          <p:cNvSpPr>
            <a:spLocks noGrp="1"/>
          </p:cNvSpPr>
          <p:nvPr/>
        </p:nvSpPr>
        <p:spPr>
          <a:xfrm>
            <a:off x="11810999" y="2665000"/>
            <a:ext cx="689667" cy="1528000"/>
          </a:xfrm>
          <a:custGeom>
            <a:avLst/>
            <a:gdLst/>
            <a:ahLst/>
            <a:cxnLst/>
            <a:rect l="l" t="t" r="r" b="b"/>
            <a:pathLst>
              <a:path w="638175" h="2600325">
                <a:moveTo>
                  <a:pt x="0" y="2600325"/>
                </a:moveTo>
                <a:lnTo>
                  <a:pt x="314325" y="2600325"/>
                </a:lnTo>
                <a:lnTo>
                  <a:pt x="314325" y="0"/>
                </a:lnTo>
                <a:lnTo>
                  <a:pt x="638175" y="0"/>
                </a:lnTo>
              </a:path>
            </a:pathLst>
          </a:custGeom>
          <a:noFill/>
          <a:ln w="23812">
            <a:solidFill>
              <a:srgbClr val="475467"/>
            </a:solidFill>
            <a:tailEnd type="triangle" w="lg" len="lg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0CF1475E-C77F-4091-91DF-4E3047E753F3}"/>
              </a:ext>
            </a:extLst>
          </p:cNvPr>
          <p:cNvSpPr>
            <a:spLocks noGrp="1"/>
          </p:cNvSpPr>
          <p:nvPr/>
        </p:nvSpPr>
        <p:spPr>
          <a:xfrm>
            <a:off x="6991350" y="1928812"/>
            <a:ext cx="1676400" cy="714375"/>
          </a:xfrm>
          <a:prstGeom prst="roundRect">
            <a:avLst>
              <a:gd name="adj" fmla="val 18667"/>
            </a:avLst>
          </a:prstGeom>
          <a:solidFill>
            <a:srgbClr val="EAF6F2"/>
          </a:solidFill>
          <a:ln w="20955">
            <a:solidFill>
              <a:srgbClr val="2E7D6B"/>
            </a:solidFill>
          </a:ln>
        </p:spPr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D70500DA-A1A5-4C4C-AF84-258044F232F5}"/>
              </a:ext>
            </a:extLst>
          </p:cNvPr>
          <p:cNvSpPr>
            <a:spLocks noGrp="1"/>
          </p:cNvSpPr>
          <p:nvPr/>
        </p:nvSpPr>
        <p:spPr>
          <a:xfrm>
            <a:off x="7245260" y="1979486"/>
            <a:ext cx="11495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Stage 2 </a:t>
            </a:r>
            <a:r>
              <a:rPr sz="1350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样本</a:t>
            </a:r>
            <a:endParaRPr sz="1350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1CEE180C-3D22-43BB-9627-FE0A8D4AD8FB}"/>
              </a:ext>
            </a:extLst>
          </p:cNvPr>
          <p:cNvSpPr>
            <a:spLocks noGrp="1"/>
          </p:cNvSpPr>
          <p:nvPr/>
        </p:nvSpPr>
        <p:spPr>
          <a:xfrm>
            <a:off x="7141297" y="219379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 dirty="0" err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制度型开放条款</a:t>
            </a:r>
            <a:endParaRPr sz="1350" b="1" dirty="0">
              <a:solidFill>
                <a:srgbClr val="18223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66C7BDC5-DB4C-4C79-B9BF-6FD4381CC046}"/>
              </a:ext>
            </a:extLst>
          </p:cNvPr>
          <p:cNvSpPr>
            <a:spLocks noGrp="1"/>
          </p:cNvSpPr>
          <p:nvPr/>
        </p:nvSpPr>
        <p:spPr>
          <a:xfrm>
            <a:off x="7514545" y="2408110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 dirty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764 条</a:t>
            </a:r>
          </a:p>
        </p:txBody>
      </p:sp>
    </p:spTree>
    <p:extLst>
      <p:ext uri="{BB962C8B-B14F-4D97-AF65-F5344CB8AC3E}">
        <p14:creationId xmlns:p14="http://schemas.microsoft.com/office/powerpoint/2010/main" val="24995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-2-title">
            <a:extLst>
              <a:ext uri="{FF2B5EF4-FFF2-40B4-BE49-F238E27FC236}">
                <a16:creationId xmlns:a16="http://schemas.microsoft.com/office/drawing/2014/main" id="{3FA4FA45-D396-4439-A304-C9987E5911CF}"/>
              </a:ext>
            </a:extLst>
          </p:cNvPr>
          <p:cNvSpPr>
            <a:spLocks noGrp="1"/>
          </p:cNvSpPr>
          <p:nvPr/>
        </p:nvSpPr>
        <p:spPr>
          <a:xfrm>
            <a:off x="426720" y="213360"/>
            <a:ext cx="6858000" cy="44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82230"/>
                </a:solidFill>
              </a:defRPr>
            </a:pPr>
            <a:r>
              <a:rPr sz="3300" b="1" dirty="0" err="1">
                <a:solidFill>
                  <a:srgbClr val="182230"/>
                </a:solidFill>
              </a:rPr>
              <a:t>流程说明与判定口径</a:t>
            </a:r>
            <a:endParaRPr sz="3300" b="1" dirty="0">
              <a:solidFill>
                <a:srgbClr val="182230"/>
              </a:solidFill>
            </a:endParaRPr>
          </a:p>
        </p:txBody>
      </p:sp>
      <p:sp>
        <p:nvSpPr>
          <p:cNvPr id="2" name="slide-2-subtitle">
            <a:extLst>
              <a:ext uri="{FF2B5EF4-FFF2-40B4-BE49-F238E27FC236}">
                <a16:creationId xmlns:a16="http://schemas.microsoft.com/office/drawing/2014/main" id="{EBAC913C-707B-42A4-87E9-87BAF42273E6}"/>
              </a:ext>
            </a:extLst>
          </p:cNvPr>
          <p:cNvSpPr>
            <a:spLocks noGrp="1"/>
          </p:cNvSpPr>
          <p:nvPr/>
        </p:nvSpPr>
        <p:spPr>
          <a:xfrm>
            <a:off x="426720" y="746760"/>
            <a:ext cx="79248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085"/>
                </a:solidFill>
              </a:defRPr>
            </a:pPr>
            <a:r>
              <a:rPr sz="1500" b="0" dirty="0" err="1">
                <a:solidFill>
                  <a:srgbClr val="667085"/>
                </a:solidFill>
              </a:rPr>
              <a:t>每一步回答不同问题，并通过仲裁、规则校验和审计记录保证可复核性</a:t>
            </a:r>
            <a:endParaRPr sz="1500" b="0" dirty="0">
              <a:solidFill>
                <a:srgbClr val="667085"/>
              </a:solidFill>
            </a:endParaRPr>
          </a:p>
        </p:txBody>
      </p:sp>
      <p:sp>
        <p:nvSpPr>
          <p:cNvPr id="3" name="slide-2-title-rule">
            <a:extLst>
              <a:ext uri="{FF2B5EF4-FFF2-40B4-BE49-F238E27FC236}">
                <a16:creationId xmlns:a16="http://schemas.microsoft.com/office/drawing/2014/main" id="{B135EA15-B276-4FB3-AE0B-794CFEA7C221}"/>
              </a:ext>
            </a:extLst>
          </p:cNvPr>
          <p:cNvSpPr>
            <a:spLocks noGrp="1"/>
          </p:cNvSpPr>
          <p:nvPr/>
        </p:nvSpPr>
        <p:spPr>
          <a:xfrm>
            <a:off x="426720" y="1051560"/>
            <a:ext cx="11338560" cy="1524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" name="left-section-title">
            <a:extLst>
              <a:ext uri="{FF2B5EF4-FFF2-40B4-BE49-F238E27FC236}">
                <a16:creationId xmlns:a16="http://schemas.microsoft.com/office/drawing/2014/main" id="{0D93C0C2-4190-4353-B544-F94456512ED1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57912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四个阶段分别解决什么问题</a:t>
            </a:r>
          </a:p>
        </p:txBody>
      </p:sp>
      <p:sp>
        <p:nvSpPr>
          <p:cNvPr id="5" name="timeline-1-line">
            <a:extLst>
              <a:ext uri="{FF2B5EF4-FFF2-40B4-BE49-F238E27FC236}">
                <a16:creationId xmlns:a16="http://schemas.microsoft.com/office/drawing/2014/main" id="{BBDF1856-5F40-491C-BA95-F15122A42FA8}"/>
              </a:ext>
            </a:extLst>
          </p:cNvPr>
          <p:cNvSpPr>
            <a:spLocks noGrp="1"/>
          </p:cNvSpPr>
          <p:nvPr/>
        </p:nvSpPr>
        <p:spPr>
          <a:xfrm>
            <a:off x="746760" y="2057400"/>
            <a:ext cx="30480" cy="88392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6" name="timeline-1-number">
            <a:extLst>
              <a:ext uri="{FF2B5EF4-FFF2-40B4-BE49-F238E27FC236}">
                <a16:creationId xmlns:a16="http://schemas.microsoft.com/office/drawing/2014/main" id="{D6E66C81-9A70-4E4E-93DD-28CFD89268A3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457200" cy="457200"/>
          </a:xfrm>
          <a:prstGeom prst="ellipse">
            <a:avLst/>
          </a:prstGeom>
          <a:solidFill>
            <a:srgbClr val="E9EEF5"/>
          </a:solidFill>
          <a:ln w="15240">
            <a:solidFill>
              <a:srgbClr val="47546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1</a:t>
            </a:r>
          </a:p>
        </p:txBody>
      </p:sp>
      <p:sp>
        <p:nvSpPr>
          <p:cNvPr id="7" name="timeline-1-title">
            <a:extLst>
              <a:ext uri="{FF2B5EF4-FFF2-40B4-BE49-F238E27FC236}">
                <a16:creationId xmlns:a16="http://schemas.microsoft.com/office/drawing/2014/main" id="{A00AFB48-71AB-40D0-8E80-64CBBC18389A}"/>
              </a:ext>
            </a:extLst>
          </p:cNvPr>
          <p:cNvSpPr>
            <a:spLocks noGrp="1"/>
          </p:cNvSpPr>
          <p:nvPr/>
        </p:nvSpPr>
        <p:spPr>
          <a:xfrm>
            <a:off x="1219200" y="1661160"/>
            <a:ext cx="5486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82230"/>
                </a:solidFill>
              </a:defRPr>
            </a:pPr>
            <a:r>
              <a:rPr sz="1875" b="1" dirty="0" err="1">
                <a:solidFill>
                  <a:srgbClr val="182230"/>
                </a:solidFill>
              </a:rPr>
              <a:t>数据准备｜统一可比较的条款粒度</a:t>
            </a:r>
            <a:endParaRPr sz="1875" b="1" dirty="0">
              <a:solidFill>
                <a:srgbClr val="182230"/>
              </a:solidFill>
            </a:endParaRPr>
          </a:p>
        </p:txBody>
      </p:sp>
      <p:sp>
        <p:nvSpPr>
          <p:cNvPr id="8" name="timeline-1-body">
            <a:extLst>
              <a:ext uri="{FF2B5EF4-FFF2-40B4-BE49-F238E27FC236}">
                <a16:creationId xmlns:a16="http://schemas.microsoft.com/office/drawing/2014/main" id="{5BC4C337-1D1F-49D5-B0F4-A2A3CF9BDB8E}"/>
              </a:ext>
            </a:extLst>
          </p:cNvPr>
          <p:cNvSpPr>
            <a:spLocks noGrp="1"/>
          </p:cNvSpPr>
          <p:nvPr/>
        </p:nvSpPr>
        <p:spPr>
          <a:xfrm>
            <a:off x="1219200" y="1996440"/>
            <a:ext cx="548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清洗 DTA 2.0 条款文本，构造唯一 provision_id，并形成协定—条款矩阵；原始文本和来源字段保留用于回溯。</a:t>
            </a:r>
          </a:p>
        </p:txBody>
      </p:sp>
      <p:sp>
        <p:nvSpPr>
          <p:cNvPr id="9" name="timeline-2-line">
            <a:extLst>
              <a:ext uri="{FF2B5EF4-FFF2-40B4-BE49-F238E27FC236}">
                <a16:creationId xmlns:a16="http://schemas.microsoft.com/office/drawing/2014/main" id="{BDA5244F-6B3E-499F-B2C8-A9095CCC998C}"/>
              </a:ext>
            </a:extLst>
          </p:cNvPr>
          <p:cNvSpPr>
            <a:spLocks noGrp="1"/>
          </p:cNvSpPr>
          <p:nvPr/>
        </p:nvSpPr>
        <p:spPr>
          <a:xfrm>
            <a:off x="746760" y="3162300"/>
            <a:ext cx="30480" cy="88392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0" name="timeline-2-number">
            <a:extLst>
              <a:ext uri="{FF2B5EF4-FFF2-40B4-BE49-F238E27FC236}">
                <a16:creationId xmlns:a16="http://schemas.microsoft.com/office/drawing/2014/main" id="{D9691325-0515-43F6-ACAE-2E860DD258E7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457200" cy="457200"/>
          </a:xfrm>
          <a:prstGeom prst="ellipse">
            <a:avLst/>
          </a:prstGeom>
          <a:solidFill>
            <a:srgbClr val="EAF2FB"/>
          </a:solidFill>
          <a:ln w="15240">
            <a:solidFill>
              <a:srgbClr val="3778A6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2</a:t>
            </a:r>
          </a:p>
        </p:txBody>
      </p:sp>
      <p:sp>
        <p:nvSpPr>
          <p:cNvPr id="11" name="timeline-2-title">
            <a:extLst>
              <a:ext uri="{FF2B5EF4-FFF2-40B4-BE49-F238E27FC236}">
                <a16:creationId xmlns:a16="http://schemas.microsoft.com/office/drawing/2014/main" id="{45F1B622-7428-4E58-AD66-7E97486D6B49}"/>
              </a:ext>
            </a:extLst>
          </p:cNvPr>
          <p:cNvSpPr>
            <a:spLocks noGrp="1"/>
          </p:cNvSpPr>
          <p:nvPr/>
        </p:nvSpPr>
        <p:spPr>
          <a:xfrm>
            <a:off x="1219200" y="2766060"/>
            <a:ext cx="5486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Stage 1｜识别“是否制度型开放”及其制度维度</a:t>
            </a:r>
          </a:p>
        </p:txBody>
      </p:sp>
      <p:sp>
        <p:nvSpPr>
          <p:cNvPr id="12" name="timeline-2-body">
            <a:extLst>
              <a:ext uri="{FF2B5EF4-FFF2-40B4-BE49-F238E27FC236}">
                <a16:creationId xmlns:a16="http://schemas.microsoft.com/office/drawing/2014/main" id="{1EFDFE12-70B5-4DCB-8ECE-3866687986F1}"/>
              </a:ext>
            </a:extLst>
          </p:cNvPr>
          <p:cNvSpPr>
            <a:spLocks noGrp="1"/>
          </p:cNvSpPr>
          <p:nvPr/>
        </p:nvSpPr>
        <p:spPr>
          <a:xfrm>
            <a:off x="1219200" y="3101340"/>
            <a:ext cx="548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1A 在 1,071 条条款中识别 764 条制度型开放条款；1B 将其归入实体规则、监管规制、行政管理和技术标准。两步均由双模型比较后仲裁分歧。</a:t>
            </a:r>
          </a:p>
        </p:txBody>
      </p:sp>
      <p:sp>
        <p:nvSpPr>
          <p:cNvPr id="13" name="timeline-3-line">
            <a:extLst>
              <a:ext uri="{FF2B5EF4-FFF2-40B4-BE49-F238E27FC236}">
                <a16:creationId xmlns:a16="http://schemas.microsoft.com/office/drawing/2014/main" id="{3339A4C0-0646-43D5-8655-8FFF2E20F4C3}"/>
              </a:ext>
            </a:extLst>
          </p:cNvPr>
          <p:cNvSpPr>
            <a:spLocks noGrp="1"/>
          </p:cNvSpPr>
          <p:nvPr/>
        </p:nvSpPr>
        <p:spPr>
          <a:xfrm>
            <a:off x="746760" y="4267200"/>
            <a:ext cx="30480" cy="88392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4" name="timeline-3-number">
            <a:extLst>
              <a:ext uri="{FF2B5EF4-FFF2-40B4-BE49-F238E27FC236}">
                <a16:creationId xmlns:a16="http://schemas.microsoft.com/office/drawing/2014/main" id="{07C41B3C-193F-43AD-9347-30CD2EE6242B}"/>
              </a:ext>
            </a:extLst>
          </p:cNvPr>
          <p:cNvSpPr>
            <a:spLocks noGrp="1"/>
          </p:cNvSpPr>
          <p:nvPr/>
        </p:nvSpPr>
        <p:spPr>
          <a:xfrm>
            <a:off x="533400" y="3886200"/>
            <a:ext cx="457200" cy="457200"/>
          </a:xfrm>
          <a:prstGeom prst="ellipse">
            <a:avLst/>
          </a:prstGeom>
          <a:solidFill>
            <a:srgbClr val="EAF6F2"/>
          </a:solidFill>
          <a:ln w="15240">
            <a:solidFill>
              <a:srgbClr val="2E7D6B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3</a:t>
            </a:r>
          </a:p>
        </p:txBody>
      </p:sp>
      <p:sp>
        <p:nvSpPr>
          <p:cNvPr id="15" name="timeline-3-title">
            <a:extLst>
              <a:ext uri="{FF2B5EF4-FFF2-40B4-BE49-F238E27FC236}">
                <a16:creationId xmlns:a16="http://schemas.microsoft.com/office/drawing/2014/main" id="{F2DE2F2F-F993-4BF1-AD6C-50F1AADC8A91}"/>
              </a:ext>
            </a:extLst>
          </p:cNvPr>
          <p:cNvSpPr>
            <a:spLocks noGrp="1"/>
          </p:cNvSpPr>
          <p:nvPr/>
        </p:nvSpPr>
        <p:spPr>
          <a:xfrm>
            <a:off x="1219200" y="3870960"/>
            <a:ext cx="5486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Stage 2｜识别贸易与投资作用渠道</a:t>
            </a:r>
          </a:p>
        </p:txBody>
      </p:sp>
      <p:sp>
        <p:nvSpPr>
          <p:cNvPr id="16" name="timeline-3-body">
            <a:extLst>
              <a:ext uri="{FF2B5EF4-FFF2-40B4-BE49-F238E27FC236}">
                <a16:creationId xmlns:a16="http://schemas.microsoft.com/office/drawing/2014/main" id="{5D6AC116-27F2-449C-8EA6-D49650507F80}"/>
              </a:ext>
            </a:extLst>
          </p:cNvPr>
          <p:cNvSpPr>
            <a:spLocks noGrp="1"/>
          </p:cNvSpPr>
          <p:nvPr/>
        </p:nvSpPr>
        <p:spPr>
          <a:xfrm>
            <a:off x="1219200" y="4206240"/>
            <a:ext cx="548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两个模型独立判定 mp、tr、both 或 none。682 条影响类型一致的样本直接接受，82 条冲突样本进入盲审/仲裁，并统一核验权重规则。</a:t>
            </a:r>
          </a:p>
        </p:txBody>
      </p:sp>
      <p:sp>
        <p:nvSpPr>
          <p:cNvPr id="17" name="timeline-4-line">
            <a:extLst>
              <a:ext uri="{FF2B5EF4-FFF2-40B4-BE49-F238E27FC236}">
                <a16:creationId xmlns:a16="http://schemas.microsoft.com/office/drawing/2014/main" id="{A7827103-E54F-4112-83F0-9046EB509180}"/>
              </a:ext>
            </a:extLst>
          </p:cNvPr>
          <p:cNvSpPr>
            <a:spLocks noGrp="1"/>
          </p:cNvSpPr>
          <p:nvPr/>
        </p:nvSpPr>
        <p:spPr>
          <a:xfrm>
            <a:off x="746760" y="5372100"/>
            <a:ext cx="30480" cy="88392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8" name="timeline-4-number">
            <a:extLst>
              <a:ext uri="{FF2B5EF4-FFF2-40B4-BE49-F238E27FC236}">
                <a16:creationId xmlns:a16="http://schemas.microsoft.com/office/drawing/2014/main" id="{982A1C9E-D237-4812-82ED-DBA939D2ECE9}"/>
              </a:ext>
            </a:extLst>
          </p:cNvPr>
          <p:cNvSpPr>
            <a:spLocks noGrp="1"/>
          </p:cNvSpPr>
          <p:nvPr/>
        </p:nvSpPr>
        <p:spPr>
          <a:xfrm>
            <a:off x="533400" y="4991100"/>
            <a:ext cx="457200" cy="457200"/>
          </a:xfrm>
          <a:prstGeom prst="ellipse">
            <a:avLst/>
          </a:prstGeom>
          <a:solidFill>
            <a:srgbClr val="F1EFF8"/>
          </a:solidFill>
          <a:ln w="15240">
            <a:solidFill>
              <a:srgbClr val="6D5BA6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4</a:t>
            </a:r>
          </a:p>
        </p:txBody>
      </p:sp>
      <p:sp>
        <p:nvSpPr>
          <p:cNvPr id="19" name="timeline-4-title">
            <a:extLst>
              <a:ext uri="{FF2B5EF4-FFF2-40B4-BE49-F238E27FC236}">
                <a16:creationId xmlns:a16="http://schemas.microsoft.com/office/drawing/2014/main" id="{2F1635B0-CCF2-4355-A90C-C5BDE43AB73A}"/>
              </a:ext>
            </a:extLst>
          </p:cNvPr>
          <p:cNvSpPr>
            <a:spLocks noGrp="1"/>
          </p:cNvSpPr>
          <p:nvPr/>
        </p:nvSpPr>
        <p:spPr>
          <a:xfrm>
            <a:off x="1219200" y="4975860"/>
            <a:ext cx="5486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82230"/>
                </a:solidFill>
              </a:defRPr>
            </a:pPr>
            <a:r>
              <a:rPr sz="1875" b="1">
                <a:solidFill>
                  <a:srgbClr val="182230"/>
                </a:solidFill>
              </a:rPr>
              <a:t>指标输出｜从条款权重聚合到双边面板</a:t>
            </a:r>
          </a:p>
        </p:txBody>
      </p:sp>
      <p:sp>
        <p:nvSpPr>
          <p:cNvPr id="20" name="timeline-4-body">
            <a:extLst>
              <a:ext uri="{FF2B5EF4-FFF2-40B4-BE49-F238E27FC236}">
                <a16:creationId xmlns:a16="http://schemas.microsoft.com/office/drawing/2014/main" id="{B49F9528-30B4-4E10-A936-DF9BDD9A3A08}"/>
              </a:ext>
            </a:extLst>
          </p:cNvPr>
          <p:cNvSpPr>
            <a:spLocks noGrp="1"/>
          </p:cNvSpPr>
          <p:nvPr/>
        </p:nvSpPr>
        <p:spPr>
          <a:xfrm>
            <a:off x="1219200" y="5311140"/>
            <a:ext cx="548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先得到条款层面的贸易/投资权重，再聚合为 400 份协定的指数，最终构造国家对—年份指标、生效 dummy 和理想点距离。</a:t>
            </a:r>
          </a:p>
        </p:txBody>
      </p:sp>
      <p:sp>
        <p:nvSpPr>
          <p:cNvPr id="21" name="vertical-divider">
            <a:extLst>
              <a:ext uri="{FF2B5EF4-FFF2-40B4-BE49-F238E27FC236}">
                <a16:creationId xmlns:a16="http://schemas.microsoft.com/office/drawing/2014/main" id="{F6E116C2-CE90-459C-BF99-6AC509A527FB}"/>
              </a:ext>
            </a:extLst>
          </p:cNvPr>
          <p:cNvSpPr>
            <a:spLocks noGrp="1"/>
          </p:cNvSpPr>
          <p:nvPr/>
        </p:nvSpPr>
        <p:spPr>
          <a:xfrm>
            <a:off x="7086600" y="1356360"/>
            <a:ext cx="15240" cy="473964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2" name="mapping-title">
            <a:extLst>
              <a:ext uri="{FF2B5EF4-FFF2-40B4-BE49-F238E27FC236}">
                <a16:creationId xmlns:a16="http://schemas.microsoft.com/office/drawing/2014/main" id="{3B795885-DA06-4F57-95AF-6914B05AEAF8}"/>
              </a:ext>
            </a:extLst>
          </p:cNvPr>
          <p:cNvSpPr>
            <a:spLocks noGrp="1"/>
          </p:cNvSpPr>
          <p:nvPr/>
        </p:nvSpPr>
        <p:spPr>
          <a:xfrm>
            <a:off x="7543800" y="1257300"/>
            <a:ext cx="38100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影响类型与权重映射</a:t>
            </a:r>
          </a:p>
        </p:txBody>
      </p:sp>
      <p:sp>
        <p:nvSpPr>
          <p:cNvPr id="23" name="mapping-header-type">
            <a:extLst>
              <a:ext uri="{FF2B5EF4-FFF2-40B4-BE49-F238E27FC236}">
                <a16:creationId xmlns:a16="http://schemas.microsoft.com/office/drawing/2014/main" id="{E91BA596-CC01-477A-9D07-73F0601C47FB}"/>
              </a:ext>
            </a:extLst>
          </p:cNvPr>
          <p:cNvSpPr>
            <a:spLocks noGrp="1"/>
          </p:cNvSpPr>
          <p:nvPr/>
        </p:nvSpPr>
        <p:spPr>
          <a:xfrm>
            <a:off x="7543800" y="1638300"/>
            <a:ext cx="14478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类型</a:t>
            </a:r>
          </a:p>
        </p:txBody>
      </p:sp>
      <p:sp>
        <p:nvSpPr>
          <p:cNvPr id="24" name="mapping-header-trade">
            <a:extLst>
              <a:ext uri="{FF2B5EF4-FFF2-40B4-BE49-F238E27FC236}">
                <a16:creationId xmlns:a16="http://schemas.microsoft.com/office/drawing/2014/main" id="{0D9E60EB-7D1B-4B09-B6BB-F2270930F2E3}"/>
              </a:ext>
            </a:extLst>
          </p:cNvPr>
          <p:cNvSpPr>
            <a:spLocks noGrp="1"/>
          </p:cNvSpPr>
          <p:nvPr/>
        </p:nvSpPr>
        <p:spPr>
          <a:xfrm>
            <a:off x="8991600" y="1638300"/>
            <a:ext cx="6858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贸易</a:t>
            </a:r>
          </a:p>
        </p:txBody>
      </p:sp>
      <p:sp>
        <p:nvSpPr>
          <p:cNvPr id="25" name="mapping-header-invest">
            <a:extLst>
              <a:ext uri="{FF2B5EF4-FFF2-40B4-BE49-F238E27FC236}">
                <a16:creationId xmlns:a16="http://schemas.microsoft.com/office/drawing/2014/main" id="{F6746541-6706-4E95-85D7-BFF938DC3EA2}"/>
              </a:ext>
            </a:extLst>
          </p:cNvPr>
          <p:cNvSpPr>
            <a:spLocks noGrp="1"/>
          </p:cNvSpPr>
          <p:nvPr/>
        </p:nvSpPr>
        <p:spPr>
          <a:xfrm>
            <a:off x="9753600" y="1638300"/>
            <a:ext cx="6858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投资</a:t>
            </a:r>
          </a:p>
        </p:txBody>
      </p:sp>
      <p:sp>
        <p:nvSpPr>
          <p:cNvPr id="26" name="mapping-header-note">
            <a:extLst>
              <a:ext uri="{FF2B5EF4-FFF2-40B4-BE49-F238E27FC236}">
                <a16:creationId xmlns:a16="http://schemas.microsoft.com/office/drawing/2014/main" id="{45CDB3E2-E4DA-48DA-88B7-FBC7F3BF7151}"/>
              </a:ext>
            </a:extLst>
          </p:cNvPr>
          <p:cNvSpPr>
            <a:spLocks noGrp="1"/>
          </p:cNvSpPr>
          <p:nvPr/>
        </p:nvSpPr>
        <p:spPr>
          <a:xfrm>
            <a:off x="10591800" y="1638300"/>
            <a:ext cx="1143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含义</a:t>
            </a:r>
          </a:p>
        </p:txBody>
      </p:sp>
      <p:sp>
        <p:nvSpPr>
          <p:cNvPr id="27" name="mapping-mp-tag">
            <a:extLst>
              <a:ext uri="{FF2B5EF4-FFF2-40B4-BE49-F238E27FC236}">
                <a16:creationId xmlns:a16="http://schemas.microsoft.com/office/drawing/2014/main" id="{9F65F5BD-866E-44F2-96D8-1F6C17DA165D}"/>
              </a:ext>
            </a:extLst>
          </p:cNvPr>
          <p:cNvSpPr>
            <a:spLocks noGrp="1"/>
          </p:cNvSpPr>
          <p:nvPr/>
        </p:nvSpPr>
        <p:spPr>
          <a:xfrm>
            <a:off x="7543800" y="1905000"/>
            <a:ext cx="1447800" cy="396240"/>
          </a:xfrm>
          <a:prstGeom prst="roundRect">
            <a:avLst>
              <a:gd name="adj" fmla="val 19231"/>
            </a:avLst>
          </a:prstGeom>
          <a:solidFill>
            <a:srgbClr val="EAF6F2"/>
          </a:solidFill>
          <a:ln w="15240">
            <a:solidFill>
              <a:srgbClr val="2E7D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mp</a:t>
            </a:r>
          </a:p>
        </p:txBody>
      </p:sp>
      <p:sp>
        <p:nvSpPr>
          <p:cNvPr id="28" name="mapping-mp-trade">
            <a:extLst>
              <a:ext uri="{FF2B5EF4-FFF2-40B4-BE49-F238E27FC236}">
                <a16:creationId xmlns:a16="http://schemas.microsoft.com/office/drawing/2014/main" id="{808FC024-C2DE-41E7-A346-7F6976C8B1C8}"/>
              </a:ext>
            </a:extLst>
          </p:cNvPr>
          <p:cNvSpPr>
            <a:spLocks noGrp="1"/>
          </p:cNvSpPr>
          <p:nvPr/>
        </p:nvSpPr>
        <p:spPr>
          <a:xfrm>
            <a:off x="8991600" y="195072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1.0</a:t>
            </a:r>
          </a:p>
        </p:txBody>
      </p:sp>
      <p:sp>
        <p:nvSpPr>
          <p:cNvPr id="29" name="mapping-mp-invest">
            <a:extLst>
              <a:ext uri="{FF2B5EF4-FFF2-40B4-BE49-F238E27FC236}">
                <a16:creationId xmlns:a16="http://schemas.microsoft.com/office/drawing/2014/main" id="{4F6C8FB1-1AC3-4E5D-A11E-49625217E81C}"/>
              </a:ext>
            </a:extLst>
          </p:cNvPr>
          <p:cNvSpPr>
            <a:spLocks noGrp="1"/>
          </p:cNvSpPr>
          <p:nvPr/>
        </p:nvSpPr>
        <p:spPr>
          <a:xfrm>
            <a:off x="9753600" y="195072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0.0</a:t>
            </a:r>
          </a:p>
        </p:txBody>
      </p:sp>
      <p:sp>
        <p:nvSpPr>
          <p:cNvPr id="30" name="mapping-mp-note">
            <a:extLst>
              <a:ext uri="{FF2B5EF4-FFF2-40B4-BE49-F238E27FC236}">
                <a16:creationId xmlns:a16="http://schemas.microsoft.com/office/drawing/2014/main" id="{BFA56DCC-8390-4821-A498-8DE6BE49C0EB}"/>
              </a:ext>
            </a:extLst>
          </p:cNvPr>
          <p:cNvSpPr>
            <a:spLocks noGrp="1"/>
          </p:cNvSpPr>
          <p:nvPr/>
        </p:nvSpPr>
        <p:spPr>
          <a:xfrm>
            <a:off x="10591800" y="1905000"/>
            <a:ext cx="114300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仅作用贸易</a:t>
            </a:r>
          </a:p>
        </p:txBody>
      </p:sp>
      <p:sp>
        <p:nvSpPr>
          <p:cNvPr id="31" name="mapping-tr-tag">
            <a:extLst>
              <a:ext uri="{FF2B5EF4-FFF2-40B4-BE49-F238E27FC236}">
                <a16:creationId xmlns:a16="http://schemas.microsoft.com/office/drawing/2014/main" id="{8719B851-100C-4CEB-AA31-8C2A1E787964}"/>
              </a:ext>
            </a:extLst>
          </p:cNvPr>
          <p:cNvSpPr>
            <a:spLocks noGrp="1"/>
          </p:cNvSpPr>
          <p:nvPr/>
        </p:nvSpPr>
        <p:spPr>
          <a:xfrm>
            <a:off x="7543800" y="2377440"/>
            <a:ext cx="1447800" cy="396240"/>
          </a:xfrm>
          <a:prstGeom prst="roundRect">
            <a:avLst>
              <a:gd name="adj" fmla="val 19231"/>
            </a:avLst>
          </a:prstGeom>
          <a:solidFill>
            <a:srgbClr val="EAF6F2"/>
          </a:solidFill>
          <a:ln w="15240">
            <a:solidFill>
              <a:srgbClr val="2E7D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tr</a:t>
            </a:r>
          </a:p>
        </p:txBody>
      </p:sp>
      <p:sp>
        <p:nvSpPr>
          <p:cNvPr id="32" name="mapping-tr-trade">
            <a:extLst>
              <a:ext uri="{FF2B5EF4-FFF2-40B4-BE49-F238E27FC236}">
                <a16:creationId xmlns:a16="http://schemas.microsoft.com/office/drawing/2014/main" id="{989F9C97-370D-40F0-931B-9B7DE7666779}"/>
              </a:ext>
            </a:extLst>
          </p:cNvPr>
          <p:cNvSpPr>
            <a:spLocks noGrp="1"/>
          </p:cNvSpPr>
          <p:nvPr/>
        </p:nvSpPr>
        <p:spPr>
          <a:xfrm>
            <a:off x="8991600" y="242316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0.0</a:t>
            </a:r>
          </a:p>
        </p:txBody>
      </p:sp>
      <p:sp>
        <p:nvSpPr>
          <p:cNvPr id="33" name="mapping-tr-invest">
            <a:extLst>
              <a:ext uri="{FF2B5EF4-FFF2-40B4-BE49-F238E27FC236}">
                <a16:creationId xmlns:a16="http://schemas.microsoft.com/office/drawing/2014/main" id="{F65E749F-DFEA-48C7-AF5F-F7BCCAD47ACC}"/>
              </a:ext>
            </a:extLst>
          </p:cNvPr>
          <p:cNvSpPr>
            <a:spLocks noGrp="1"/>
          </p:cNvSpPr>
          <p:nvPr/>
        </p:nvSpPr>
        <p:spPr>
          <a:xfrm>
            <a:off x="9753600" y="242316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1.0</a:t>
            </a:r>
          </a:p>
        </p:txBody>
      </p:sp>
      <p:sp>
        <p:nvSpPr>
          <p:cNvPr id="34" name="mapping-tr-note">
            <a:extLst>
              <a:ext uri="{FF2B5EF4-FFF2-40B4-BE49-F238E27FC236}">
                <a16:creationId xmlns:a16="http://schemas.microsoft.com/office/drawing/2014/main" id="{D143B1A8-ECC1-4633-98DB-B4B3ABBB5785}"/>
              </a:ext>
            </a:extLst>
          </p:cNvPr>
          <p:cNvSpPr>
            <a:spLocks noGrp="1"/>
          </p:cNvSpPr>
          <p:nvPr/>
        </p:nvSpPr>
        <p:spPr>
          <a:xfrm>
            <a:off x="10591800" y="2377440"/>
            <a:ext cx="114300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仅作用投资</a:t>
            </a:r>
          </a:p>
        </p:txBody>
      </p:sp>
      <p:sp>
        <p:nvSpPr>
          <p:cNvPr id="35" name="mapping-both-tag">
            <a:extLst>
              <a:ext uri="{FF2B5EF4-FFF2-40B4-BE49-F238E27FC236}">
                <a16:creationId xmlns:a16="http://schemas.microsoft.com/office/drawing/2014/main" id="{9FAF993B-5400-4070-993C-9CEB8CF36349}"/>
              </a:ext>
            </a:extLst>
          </p:cNvPr>
          <p:cNvSpPr>
            <a:spLocks noGrp="1"/>
          </p:cNvSpPr>
          <p:nvPr/>
        </p:nvSpPr>
        <p:spPr>
          <a:xfrm>
            <a:off x="7543800" y="2849880"/>
            <a:ext cx="1447800" cy="396240"/>
          </a:xfrm>
          <a:prstGeom prst="roundRect">
            <a:avLst>
              <a:gd name="adj" fmla="val 19231"/>
            </a:avLst>
          </a:prstGeom>
          <a:solidFill>
            <a:srgbClr val="EAF6F2"/>
          </a:solidFill>
          <a:ln w="15240">
            <a:solidFill>
              <a:srgbClr val="2E7D6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both</a:t>
            </a:r>
          </a:p>
        </p:txBody>
      </p:sp>
      <p:sp>
        <p:nvSpPr>
          <p:cNvPr id="36" name="mapping-both-trade">
            <a:extLst>
              <a:ext uri="{FF2B5EF4-FFF2-40B4-BE49-F238E27FC236}">
                <a16:creationId xmlns:a16="http://schemas.microsoft.com/office/drawing/2014/main" id="{D114B9D7-5D50-46CD-A6C8-CA626D4DB6CA}"/>
              </a:ext>
            </a:extLst>
          </p:cNvPr>
          <p:cNvSpPr>
            <a:spLocks noGrp="1"/>
          </p:cNvSpPr>
          <p:nvPr/>
        </p:nvSpPr>
        <p:spPr>
          <a:xfrm>
            <a:off x="8991600" y="289560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&gt; 0</a:t>
            </a:r>
          </a:p>
        </p:txBody>
      </p:sp>
      <p:sp>
        <p:nvSpPr>
          <p:cNvPr id="37" name="mapping-both-invest">
            <a:extLst>
              <a:ext uri="{FF2B5EF4-FFF2-40B4-BE49-F238E27FC236}">
                <a16:creationId xmlns:a16="http://schemas.microsoft.com/office/drawing/2014/main" id="{1682AD7A-4C6F-4D05-A20F-43B54E57D042}"/>
              </a:ext>
            </a:extLst>
          </p:cNvPr>
          <p:cNvSpPr>
            <a:spLocks noGrp="1"/>
          </p:cNvSpPr>
          <p:nvPr/>
        </p:nvSpPr>
        <p:spPr>
          <a:xfrm>
            <a:off x="9753600" y="289560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&gt; 0</a:t>
            </a:r>
          </a:p>
        </p:txBody>
      </p:sp>
      <p:sp>
        <p:nvSpPr>
          <p:cNvPr id="38" name="mapping-both-note">
            <a:extLst>
              <a:ext uri="{FF2B5EF4-FFF2-40B4-BE49-F238E27FC236}">
                <a16:creationId xmlns:a16="http://schemas.microsoft.com/office/drawing/2014/main" id="{AA1C2EE8-2152-473D-A863-890A68062267}"/>
              </a:ext>
            </a:extLst>
          </p:cNvPr>
          <p:cNvSpPr>
            <a:spLocks noGrp="1"/>
          </p:cNvSpPr>
          <p:nvPr/>
        </p:nvSpPr>
        <p:spPr>
          <a:xfrm>
            <a:off x="10591800" y="2849880"/>
            <a:ext cx="114300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两项合计 1</a:t>
            </a:r>
          </a:p>
        </p:txBody>
      </p:sp>
      <p:sp>
        <p:nvSpPr>
          <p:cNvPr id="39" name="mapping-none-tag">
            <a:extLst>
              <a:ext uri="{FF2B5EF4-FFF2-40B4-BE49-F238E27FC236}">
                <a16:creationId xmlns:a16="http://schemas.microsoft.com/office/drawing/2014/main" id="{9A93A83A-524D-4923-BE34-D41BFCDA3AE3}"/>
              </a:ext>
            </a:extLst>
          </p:cNvPr>
          <p:cNvSpPr>
            <a:spLocks noGrp="1"/>
          </p:cNvSpPr>
          <p:nvPr/>
        </p:nvSpPr>
        <p:spPr>
          <a:xfrm>
            <a:off x="7543800" y="3322320"/>
            <a:ext cx="1447800" cy="39624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240">
            <a:solidFill>
              <a:srgbClr val="47546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none</a:t>
            </a:r>
          </a:p>
        </p:txBody>
      </p:sp>
      <p:sp>
        <p:nvSpPr>
          <p:cNvPr id="40" name="mapping-none-trade">
            <a:extLst>
              <a:ext uri="{FF2B5EF4-FFF2-40B4-BE49-F238E27FC236}">
                <a16:creationId xmlns:a16="http://schemas.microsoft.com/office/drawing/2014/main" id="{A77BB9EE-8589-45E0-9CB6-A5BFF85432F9}"/>
              </a:ext>
            </a:extLst>
          </p:cNvPr>
          <p:cNvSpPr>
            <a:spLocks noGrp="1"/>
          </p:cNvSpPr>
          <p:nvPr/>
        </p:nvSpPr>
        <p:spPr>
          <a:xfrm>
            <a:off x="8991600" y="336804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0.0</a:t>
            </a:r>
          </a:p>
        </p:txBody>
      </p:sp>
      <p:sp>
        <p:nvSpPr>
          <p:cNvPr id="41" name="mapping-none-invest">
            <a:extLst>
              <a:ext uri="{FF2B5EF4-FFF2-40B4-BE49-F238E27FC236}">
                <a16:creationId xmlns:a16="http://schemas.microsoft.com/office/drawing/2014/main" id="{59D1D687-BA74-412E-8406-0070CB0872FC}"/>
              </a:ext>
            </a:extLst>
          </p:cNvPr>
          <p:cNvSpPr>
            <a:spLocks noGrp="1"/>
          </p:cNvSpPr>
          <p:nvPr/>
        </p:nvSpPr>
        <p:spPr>
          <a:xfrm>
            <a:off x="9753600" y="336804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0.0</a:t>
            </a:r>
          </a:p>
        </p:txBody>
      </p:sp>
      <p:sp>
        <p:nvSpPr>
          <p:cNvPr id="42" name="mapping-none-note">
            <a:extLst>
              <a:ext uri="{FF2B5EF4-FFF2-40B4-BE49-F238E27FC236}">
                <a16:creationId xmlns:a16="http://schemas.microsoft.com/office/drawing/2014/main" id="{427926A4-DCA1-4A04-8BFD-7E4AF473DD0E}"/>
              </a:ext>
            </a:extLst>
          </p:cNvPr>
          <p:cNvSpPr>
            <a:spLocks noGrp="1"/>
          </p:cNvSpPr>
          <p:nvPr/>
        </p:nvSpPr>
        <p:spPr>
          <a:xfrm>
            <a:off x="10591800" y="3322320"/>
            <a:ext cx="114300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进入后无直接影响</a:t>
            </a:r>
          </a:p>
        </p:txBody>
      </p:sp>
      <p:sp>
        <p:nvSpPr>
          <p:cNvPr id="43" name="mapping-not_applicable-tag">
            <a:extLst>
              <a:ext uri="{FF2B5EF4-FFF2-40B4-BE49-F238E27FC236}">
                <a16:creationId xmlns:a16="http://schemas.microsoft.com/office/drawing/2014/main" id="{D6BC1EC8-E1B9-4E94-99C3-769031DCCDB7}"/>
              </a:ext>
            </a:extLst>
          </p:cNvPr>
          <p:cNvSpPr>
            <a:spLocks noGrp="1"/>
          </p:cNvSpPr>
          <p:nvPr/>
        </p:nvSpPr>
        <p:spPr>
          <a:xfrm>
            <a:off x="7543800" y="3794760"/>
            <a:ext cx="1447800" cy="396240"/>
          </a:xfrm>
          <a:prstGeom prst="roundRect">
            <a:avLst>
              <a:gd name="adj" fmla="val 19231"/>
            </a:avLst>
          </a:prstGeom>
          <a:solidFill>
            <a:srgbClr val="E9EEF5"/>
          </a:solidFill>
          <a:ln w="15240">
            <a:solidFill>
              <a:srgbClr val="47546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82230"/>
                </a:solidFill>
              </a:defRPr>
            </a:pPr>
            <a:r>
              <a:rPr sz="1500" b="1">
                <a:solidFill>
                  <a:srgbClr val="182230"/>
                </a:solidFill>
              </a:rPr>
              <a:t>not_applicable</a:t>
            </a:r>
          </a:p>
        </p:txBody>
      </p:sp>
      <p:sp>
        <p:nvSpPr>
          <p:cNvPr id="44" name="mapping-not_applicable-trade">
            <a:extLst>
              <a:ext uri="{FF2B5EF4-FFF2-40B4-BE49-F238E27FC236}">
                <a16:creationId xmlns:a16="http://schemas.microsoft.com/office/drawing/2014/main" id="{5D1526B6-A742-49EE-8A5B-69EAB14AEAF2}"/>
              </a:ext>
            </a:extLst>
          </p:cNvPr>
          <p:cNvSpPr>
            <a:spLocks noGrp="1"/>
          </p:cNvSpPr>
          <p:nvPr/>
        </p:nvSpPr>
        <p:spPr>
          <a:xfrm>
            <a:off x="8991600" y="384048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0.0</a:t>
            </a:r>
          </a:p>
        </p:txBody>
      </p:sp>
      <p:sp>
        <p:nvSpPr>
          <p:cNvPr id="45" name="mapping-not_applicable-invest">
            <a:extLst>
              <a:ext uri="{FF2B5EF4-FFF2-40B4-BE49-F238E27FC236}">
                <a16:creationId xmlns:a16="http://schemas.microsoft.com/office/drawing/2014/main" id="{088BA2D9-AD75-4CC9-9C65-C76AEE71818D}"/>
              </a:ext>
            </a:extLst>
          </p:cNvPr>
          <p:cNvSpPr>
            <a:spLocks noGrp="1"/>
          </p:cNvSpPr>
          <p:nvPr/>
        </p:nvSpPr>
        <p:spPr>
          <a:xfrm>
            <a:off x="9753600" y="3840480"/>
            <a:ext cx="6858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82230"/>
                </a:solidFill>
              </a:defRPr>
            </a:pPr>
            <a:r>
              <a:rPr sz="1350" b="1">
                <a:solidFill>
                  <a:srgbClr val="182230"/>
                </a:solidFill>
              </a:rPr>
              <a:t>0.0</a:t>
            </a:r>
          </a:p>
        </p:txBody>
      </p:sp>
      <p:sp>
        <p:nvSpPr>
          <p:cNvPr id="46" name="mapping-not_applicable-note">
            <a:extLst>
              <a:ext uri="{FF2B5EF4-FFF2-40B4-BE49-F238E27FC236}">
                <a16:creationId xmlns:a16="http://schemas.microsoft.com/office/drawing/2014/main" id="{6CD13F8B-8DB4-40FE-BE4E-9CB3AEA065BB}"/>
              </a:ext>
            </a:extLst>
          </p:cNvPr>
          <p:cNvSpPr>
            <a:spLocks noGrp="1"/>
          </p:cNvSpPr>
          <p:nvPr/>
        </p:nvSpPr>
        <p:spPr>
          <a:xfrm>
            <a:off x="10591800" y="3794760"/>
            <a:ext cx="114300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未进入 Stage 2</a:t>
            </a:r>
          </a:p>
        </p:txBody>
      </p:sp>
      <p:sp>
        <p:nvSpPr>
          <p:cNvPr id="47" name="audit-title">
            <a:extLst>
              <a:ext uri="{FF2B5EF4-FFF2-40B4-BE49-F238E27FC236}">
                <a16:creationId xmlns:a16="http://schemas.microsoft.com/office/drawing/2014/main" id="{700AB865-7C3C-436D-A95E-17177094A88E}"/>
              </a:ext>
            </a:extLst>
          </p:cNvPr>
          <p:cNvSpPr>
            <a:spLocks noGrp="1"/>
          </p:cNvSpPr>
          <p:nvPr/>
        </p:nvSpPr>
        <p:spPr>
          <a:xfrm>
            <a:off x="7543800" y="4495800"/>
            <a:ext cx="38100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仲裁与审计规则</a:t>
            </a:r>
          </a:p>
        </p:txBody>
      </p:sp>
      <p:sp>
        <p:nvSpPr>
          <p:cNvPr id="48" name="audit-accent">
            <a:extLst>
              <a:ext uri="{FF2B5EF4-FFF2-40B4-BE49-F238E27FC236}">
                <a16:creationId xmlns:a16="http://schemas.microsoft.com/office/drawing/2014/main" id="{FC39D6BA-31BA-4665-BBC5-3D7BFE044758}"/>
              </a:ext>
            </a:extLst>
          </p:cNvPr>
          <p:cNvSpPr>
            <a:spLocks noGrp="1"/>
          </p:cNvSpPr>
          <p:nvPr/>
        </p:nvSpPr>
        <p:spPr>
          <a:xfrm>
            <a:off x="7543800" y="4861560"/>
            <a:ext cx="45720" cy="1295400"/>
          </a:xfrm>
          <a:prstGeom prst="rect">
            <a:avLst/>
          </a:prstGeom>
          <a:solidFill>
            <a:srgbClr val="A46A10"/>
          </a:solidFill>
          <a:ln w="0">
            <a:noFill/>
            <a:prstDash val="solid"/>
          </a:ln>
        </p:spPr>
      </p:sp>
      <p:sp>
        <p:nvSpPr>
          <p:cNvPr id="49" name="audit-body">
            <a:extLst>
              <a:ext uri="{FF2B5EF4-FFF2-40B4-BE49-F238E27FC236}">
                <a16:creationId xmlns:a16="http://schemas.microsoft.com/office/drawing/2014/main" id="{D39832DE-52FA-46C8-BFF1-10C043DB89F5}"/>
              </a:ext>
            </a:extLst>
          </p:cNvPr>
          <p:cNvSpPr>
            <a:spLocks noGrp="1"/>
          </p:cNvSpPr>
          <p:nvPr/>
        </p:nvSpPr>
        <p:spPr>
          <a:xfrm>
            <a:off x="7734300" y="4815840"/>
            <a:ext cx="4000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230"/>
                </a:solidFill>
              </a:defRPr>
            </a:pPr>
            <a:r>
              <a:rPr sz="1275" b="0" dirty="0">
                <a:solidFill>
                  <a:srgbClr val="182230"/>
                </a:solidFill>
              </a:rPr>
              <a:t>• </a:t>
            </a:r>
            <a:r>
              <a:rPr sz="1275" b="0" dirty="0" err="1">
                <a:solidFill>
                  <a:srgbClr val="182230"/>
                </a:solidFill>
              </a:rPr>
              <a:t>仲裁只比较</a:t>
            </a:r>
            <a:r>
              <a:rPr sz="1275" b="0" dirty="0">
                <a:solidFill>
                  <a:srgbClr val="182230"/>
                </a:solidFill>
              </a:rPr>
              <a:t> </a:t>
            </a:r>
            <a:r>
              <a:rPr sz="1275" b="0" dirty="0" err="1">
                <a:solidFill>
                  <a:srgbClr val="182230"/>
                </a:solidFill>
              </a:rPr>
              <a:t>impact_type；若两模型均为</a:t>
            </a:r>
            <a:r>
              <a:rPr sz="1275" b="0" dirty="0">
                <a:solidFill>
                  <a:srgbClr val="182230"/>
                </a:solidFill>
              </a:rPr>
              <a:t> </a:t>
            </a:r>
            <a:r>
              <a:rPr sz="1275" b="0" dirty="0" err="1">
                <a:solidFill>
                  <a:srgbClr val="182230"/>
                </a:solidFill>
              </a:rPr>
              <a:t>both，权重差异不触发仲裁，最终取均值</a:t>
            </a:r>
            <a:r>
              <a:rPr sz="1275" b="0" dirty="0">
                <a:solidFill>
                  <a:srgbClr val="182230"/>
                </a:solidFill>
              </a:rPr>
              <a:t>。</a:t>
            </a:r>
          </a:p>
          <a:p>
            <a:pPr algn="l">
              <a:defRPr sz="1275" b="0">
                <a:solidFill>
                  <a:srgbClr val="182230"/>
                </a:solidFill>
              </a:defRPr>
            </a:pPr>
            <a:r>
              <a:rPr sz="1275" b="0" dirty="0">
                <a:solidFill>
                  <a:srgbClr val="182230"/>
                </a:solidFill>
              </a:rPr>
              <a:t>• </a:t>
            </a:r>
            <a:r>
              <a:rPr sz="1275" b="0" dirty="0" err="1">
                <a:solidFill>
                  <a:srgbClr val="182230"/>
                </a:solidFill>
              </a:rPr>
              <a:t>优先级：人工复核</a:t>
            </a:r>
            <a:r>
              <a:rPr sz="1275" b="0" dirty="0">
                <a:solidFill>
                  <a:srgbClr val="182230"/>
                </a:solidFill>
              </a:rPr>
              <a:t> &gt; </a:t>
            </a:r>
            <a:r>
              <a:rPr sz="1275" b="0" dirty="0" err="1">
                <a:solidFill>
                  <a:srgbClr val="182230"/>
                </a:solidFill>
              </a:rPr>
              <a:t>仲裁</a:t>
            </a:r>
            <a:r>
              <a:rPr sz="1275" b="0" dirty="0">
                <a:solidFill>
                  <a:srgbClr val="182230"/>
                </a:solidFill>
              </a:rPr>
              <a:t> &gt; </a:t>
            </a:r>
            <a:r>
              <a:rPr sz="1275" b="0" dirty="0" err="1">
                <a:solidFill>
                  <a:srgbClr val="182230"/>
                </a:solidFill>
              </a:rPr>
              <a:t>双模型一致</a:t>
            </a:r>
            <a:r>
              <a:rPr sz="1275" b="0" dirty="0">
                <a:solidFill>
                  <a:srgbClr val="182230"/>
                </a:solidFill>
              </a:rPr>
              <a:t>。</a:t>
            </a:r>
          </a:p>
          <a:p>
            <a:pPr algn="l">
              <a:defRPr sz="1275" b="0">
                <a:solidFill>
                  <a:srgbClr val="182230"/>
                </a:solidFill>
              </a:defRPr>
            </a:pPr>
            <a:r>
              <a:rPr sz="1275" b="0" dirty="0">
                <a:solidFill>
                  <a:srgbClr val="182230"/>
                </a:solidFill>
              </a:rPr>
              <a:t>• </a:t>
            </a:r>
            <a:r>
              <a:rPr sz="1275" b="0" dirty="0" err="1">
                <a:solidFill>
                  <a:srgbClr val="182230"/>
                </a:solidFill>
              </a:rPr>
              <a:t>保留模型、prompt、hash、run_id</a:t>
            </a:r>
            <a:r>
              <a:rPr sz="1275" b="0" dirty="0">
                <a:solidFill>
                  <a:srgbClr val="182230"/>
                </a:solidFill>
              </a:rPr>
              <a:t> </a:t>
            </a:r>
            <a:r>
              <a:rPr sz="1275" b="0" dirty="0" err="1">
                <a:solidFill>
                  <a:srgbClr val="182230"/>
                </a:solidFill>
              </a:rPr>
              <a:t>与判定来源</a:t>
            </a:r>
            <a:r>
              <a:rPr sz="1275" b="0" dirty="0">
                <a:solidFill>
                  <a:srgbClr val="182230"/>
                </a:solidFill>
              </a:rPr>
              <a:t>。</a:t>
            </a:r>
          </a:p>
        </p:txBody>
      </p:sp>
      <p:sp>
        <p:nvSpPr>
          <p:cNvPr id="50" name="footer-rule">
            <a:extLst>
              <a:ext uri="{FF2B5EF4-FFF2-40B4-BE49-F238E27FC236}">
                <a16:creationId xmlns:a16="http://schemas.microsoft.com/office/drawing/2014/main" id="{7603890B-91BD-421D-8A4A-45EA551E0618}"/>
              </a:ext>
            </a:extLst>
          </p:cNvPr>
          <p:cNvSpPr>
            <a:spLocks noGrp="1"/>
          </p:cNvSpPr>
          <p:nvPr/>
        </p:nvSpPr>
        <p:spPr>
          <a:xfrm>
            <a:off x="426720" y="6324600"/>
            <a:ext cx="11338560" cy="1524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425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356</Words>
  <Application>Microsoft Office PowerPoint</Application>
  <DocSecurity>0</DocSecurity>
  <PresentationFormat>自定义</PresentationFormat>
  <Paragraphs>108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镇宇 杨</cp:lastModifiedBy>
  <cp:revision>8</cp:revision>
  <dcterms:created xsi:type="dcterms:W3CDTF">2026-07-12T08:49:08Z</dcterms:created>
  <dcterms:modified xsi:type="dcterms:W3CDTF">2026-07-12T09:24:45Z</dcterms:modified>
</cp:coreProperties>
</file>