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5240000" cy="85725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1381125"/>
              <a:ext cx="1905000" cy="5381625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14288">
              <a:solidFill>
                <a:srgbClr val="D0D5DD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2571750" y="1381125"/>
              <a:ext cx="4000500" cy="5381625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4288">
              <a:solidFill>
                <a:srgbClr val="D0D5DD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762750" y="1381125"/>
              <a:ext cx="5334000" cy="5381625"/>
            </a:xfrm>
            <a:prstGeom prst="roundRect">
              <a:avLst>
                <a:gd name="adj" fmla="val 3214"/>
              </a:avLst>
            </a:prstGeom>
            <a:solidFill>
              <a:srgbClr val="FFFFFF"/>
            </a:solidFill>
            <a:ln w="14288">
              <a:solidFill>
                <a:srgbClr val="D0D5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2287250" y="1381125"/>
              <a:ext cx="2476500" cy="5381625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4288">
              <a:solidFill>
                <a:srgbClr val="D0D5D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76250" y="7010400"/>
              <a:ext cx="14287500" cy="1123950"/>
            </a:xfrm>
            <a:prstGeom prst="roundRect">
              <a:avLst>
                <a:gd name="adj" fmla="val 13559"/>
              </a:avLst>
            </a:prstGeom>
            <a:solidFill>
              <a:srgbClr val="FFFFFF"/>
            </a:solidFill>
            <a:ln w="14288">
              <a:solidFill>
                <a:srgbClr val="D0D5DD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76250" y="1162050"/>
            <a:ext cx="14287500" cy="676275"/>
            <a:chOff x="476250" y="1162050"/>
            <a:chExt cx="14287500" cy="676275"/>
          </a:xfrm>
        </p:grpSpPr>
        <p:sp>
          <p:nvSpPr>
            <p:cNvPr id="10" name="Line 10"/>
            <p:cNvSpPr/>
            <p:nvPr/>
          </p:nvSpPr>
          <p:spPr>
            <a:xfrm>
              <a:off x="533400" y="1162050"/>
              <a:ext cx="14173200" cy="9525"/>
            </a:xfrm>
            <a:custGeom>
              <a:avLst/>
              <a:gdLst/>
              <a:ahLst/>
              <a:cxnLst/>
              <a:rect l="l" t="t" r="r" b="b"/>
              <a:pathLst>
                <a:path w="14173200" h="9525">
                  <a:moveTo>
                    <a:pt x="0" y="0"/>
                  </a:moveTo>
                  <a:lnTo>
                    <a:pt x="14173200" y="0"/>
                  </a:lnTo>
                </a:path>
              </a:pathLst>
            </a:custGeom>
            <a:noFill/>
            <a:ln w="14288">
              <a:solidFill>
                <a:srgbClr val="D0D5DD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76250" y="1381125"/>
              <a:ext cx="1905000" cy="457200"/>
            </a:xfrm>
            <a:prstGeom prst="roundRect">
              <a:avLst>
                <a:gd name="adj" fmla="val 37500"/>
              </a:avLst>
            </a:prstGeom>
            <a:solidFill>
              <a:srgbClr val="E9EEF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76250" y="1666875"/>
              <a:ext cx="1905000" cy="171450"/>
            </a:xfrm>
            <a:prstGeom prst="rect">
              <a:avLst/>
            </a:prstGeom>
            <a:solidFill>
              <a:srgbClr val="E9EE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571750" y="1381125"/>
              <a:ext cx="4000500" cy="457200"/>
            </a:xfrm>
            <a:prstGeom prst="roundRect">
              <a:avLst>
                <a:gd name="adj" fmla="val 37500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571750" y="1666875"/>
              <a:ext cx="4000500" cy="171450"/>
            </a:xfrm>
            <a:prstGeom prst="rect">
              <a:avLst/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762750" y="1381125"/>
              <a:ext cx="5334000" cy="457200"/>
            </a:xfrm>
            <a:prstGeom prst="roundRect">
              <a:avLst>
                <a:gd name="adj" fmla="val 37500"/>
              </a:avLst>
            </a:prstGeom>
            <a:solidFill>
              <a:srgbClr val="EAF6F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762750" y="1666875"/>
              <a:ext cx="5334000" cy="171450"/>
            </a:xfrm>
            <a:prstGeom prst="rect">
              <a:avLst/>
            </a:prstGeom>
            <a:solidFill>
              <a:srgbClr val="EAF6F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287250" y="1381125"/>
              <a:ext cx="2476500" cy="457200"/>
            </a:xfrm>
            <a:prstGeom prst="roundRect">
              <a:avLst>
                <a:gd name="adj" fmla="val 37500"/>
              </a:avLst>
            </a:prstGeom>
            <a:solidFill>
              <a:srgbClr val="F1EFF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2287250" y="1666875"/>
              <a:ext cx="2476500" cy="171450"/>
            </a:xfrm>
            <a:prstGeom prst="rect">
              <a:avLst/>
            </a:prstGeom>
            <a:solidFill>
              <a:srgbClr val="F1EFF8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14375" y="1924050"/>
            <a:ext cx="13839825" cy="4533900"/>
            <a:chOff x="714375" y="1924050"/>
            <a:chExt cx="13839825" cy="4533900"/>
          </a:xfrm>
        </p:grpSpPr>
        <p:sp>
          <p:nvSpPr>
            <p:cNvPr id="20" name="Rectangle 20"/>
            <p:cNvSpPr/>
            <p:nvPr/>
          </p:nvSpPr>
          <p:spPr>
            <a:xfrm>
              <a:off x="714375" y="1962150"/>
              <a:ext cx="1428750" cy="762000"/>
            </a:xfrm>
            <a:prstGeom prst="roundRect">
              <a:avLst>
                <a:gd name="adj" fmla="val 17500"/>
              </a:avLst>
            </a:prstGeom>
            <a:solidFill>
              <a:srgbClr val="F2F4F7"/>
            </a:solidFill>
            <a:ln w="20955">
              <a:solidFill>
                <a:srgbClr val="475467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4375" y="3105150"/>
              <a:ext cx="1428750" cy="904875"/>
            </a:xfrm>
            <a:prstGeom prst="roundRect">
              <a:avLst>
                <a:gd name="adj" fmla="val 14737"/>
              </a:avLst>
            </a:prstGeom>
            <a:solidFill>
              <a:srgbClr val="FFFFFF"/>
            </a:solidFill>
            <a:ln w="20955">
              <a:solidFill>
                <a:srgbClr val="475467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4375" y="4391025"/>
              <a:ext cx="1428750" cy="895350"/>
            </a:xfrm>
            <a:prstGeom prst="roundRect">
              <a:avLst>
                <a:gd name="adj" fmla="val 14894"/>
              </a:avLst>
            </a:prstGeom>
            <a:solidFill>
              <a:srgbClr val="FFFFFF"/>
            </a:solidFill>
            <a:ln w="20955">
              <a:solidFill>
                <a:srgbClr val="475467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81300" y="1924050"/>
              <a:ext cx="1619250" cy="742950"/>
            </a:xfrm>
            <a:prstGeom prst="roundRect">
              <a:avLst>
                <a:gd name="adj" fmla="val 17949"/>
              </a:avLst>
            </a:prstGeom>
            <a:solidFill>
              <a:srgbClr val="EAF2FB"/>
            </a:solidFill>
            <a:ln w="20955">
              <a:solidFill>
                <a:srgbClr val="3778A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857750" y="1924050"/>
              <a:ext cx="1524000" cy="742950"/>
            </a:xfrm>
            <a:prstGeom prst="roundRect">
              <a:avLst>
                <a:gd name="adj" fmla="val 17949"/>
              </a:avLst>
            </a:prstGeom>
            <a:solidFill>
              <a:srgbClr val="FFF3D8"/>
            </a:solidFill>
            <a:ln w="20955">
              <a:solidFill>
                <a:srgbClr val="A46A1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781300" y="3028950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F2F4F7"/>
            </a:solidFill>
            <a:ln w="20955">
              <a:solidFill>
                <a:srgbClr val="475467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857750" y="3028950"/>
              <a:ext cx="1524000" cy="666750"/>
            </a:xfrm>
            <a:prstGeom prst="roundRect">
              <a:avLst>
                <a:gd name="adj" fmla="val 20000"/>
              </a:avLst>
            </a:prstGeom>
            <a:solidFill>
              <a:srgbClr val="EAF2FB"/>
            </a:solidFill>
            <a:ln w="20955">
              <a:solidFill>
                <a:srgbClr val="3778A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781300" y="4191000"/>
              <a:ext cx="1619250" cy="857250"/>
            </a:xfrm>
            <a:prstGeom prst="roundRect">
              <a:avLst>
                <a:gd name="adj" fmla="val 15556"/>
              </a:avLst>
            </a:prstGeom>
            <a:solidFill>
              <a:srgbClr val="EAF2FB"/>
            </a:solidFill>
            <a:ln w="20955">
              <a:solidFill>
                <a:srgbClr val="3778A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857750" y="4191000"/>
              <a:ext cx="1524000" cy="857250"/>
            </a:xfrm>
            <a:prstGeom prst="roundRect">
              <a:avLst>
                <a:gd name="adj" fmla="val 15556"/>
              </a:avLst>
            </a:prstGeom>
            <a:solidFill>
              <a:srgbClr val="FFF3D8"/>
            </a:solidFill>
            <a:ln w="20955">
              <a:solidFill>
                <a:srgbClr val="A46A1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714750" y="5638800"/>
              <a:ext cx="1714500" cy="723900"/>
            </a:xfrm>
            <a:prstGeom prst="roundRect">
              <a:avLst>
                <a:gd name="adj" fmla="val 18421"/>
              </a:avLst>
            </a:prstGeom>
            <a:solidFill>
              <a:srgbClr val="FFFFFF"/>
            </a:solidFill>
            <a:ln w="20955">
              <a:solidFill>
                <a:srgbClr val="3778A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72300" y="1924050"/>
              <a:ext cx="1676400" cy="714375"/>
            </a:xfrm>
            <a:prstGeom prst="roundRect">
              <a:avLst>
                <a:gd name="adj" fmla="val 18667"/>
              </a:avLst>
            </a:prstGeom>
            <a:solidFill>
              <a:srgbClr val="EAF6F2"/>
            </a:solidFill>
            <a:ln w="20955">
              <a:solidFill>
                <a:srgbClr val="2E7D6B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72300" y="3028950"/>
              <a:ext cx="1676400" cy="762000"/>
            </a:xfrm>
            <a:prstGeom prst="roundRect">
              <a:avLst>
                <a:gd name="adj" fmla="val 17500"/>
              </a:avLst>
            </a:prstGeom>
            <a:solidFill>
              <a:srgbClr val="FFFFFF"/>
            </a:solidFill>
            <a:ln w="20955">
              <a:solidFill>
                <a:srgbClr val="2E7D6B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72300" y="4362450"/>
              <a:ext cx="1676400" cy="762000"/>
            </a:xfrm>
            <a:prstGeom prst="roundRect">
              <a:avLst>
                <a:gd name="adj" fmla="val 17500"/>
              </a:avLst>
            </a:prstGeom>
            <a:solidFill>
              <a:srgbClr val="FFFFFF"/>
            </a:solidFill>
            <a:ln w="20955">
              <a:solidFill>
                <a:srgbClr val="2E7D6B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067800" y="3676650"/>
              <a:ext cx="1428750" cy="914400"/>
            </a:xfrm>
            <a:prstGeom prst="roundRect">
              <a:avLst>
                <a:gd name="adj" fmla="val 14583"/>
              </a:avLst>
            </a:prstGeom>
            <a:solidFill>
              <a:srgbClr val="EAF6F2"/>
            </a:solidFill>
            <a:ln w="20955">
              <a:solidFill>
                <a:srgbClr val="2E7D6B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782300" y="2762250"/>
              <a:ext cx="1200150" cy="714375"/>
            </a:xfrm>
            <a:prstGeom prst="roundRect">
              <a:avLst>
                <a:gd name="adj" fmla="val 18667"/>
              </a:avLst>
            </a:prstGeom>
            <a:solidFill>
              <a:srgbClr val="EAF6F2"/>
            </a:solidFill>
            <a:ln w="20955">
              <a:solidFill>
                <a:srgbClr val="2E7D6B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782300" y="4638675"/>
              <a:ext cx="1200150" cy="714375"/>
            </a:xfrm>
            <a:prstGeom prst="roundRect">
              <a:avLst>
                <a:gd name="adj" fmla="val 18667"/>
              </a:avLst>
            </a:prstGeom>
            <a:solidFill>
              <a:srgbClr val="FFF3D8"/>
            </a:solidFill>
            <a:ln w="20955">
              <a:solidFill>
                <a:srgbClr val="A46A1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72300" y="5810250"/>
              <a:ext cx="1676400" cy="647700"/>
            </a:xfrm>
            <a:prstGeom prst="roundRect">
              <a:avLst>
                <a:gd name="adj" fmla="val 20588"/>
              </a:avLst>
            </a:prstGeom>
            <a:solidFill>
              <a:srgbClr val="FFFFFF"/>
            </a:solidFill>
            <a:ln w="20955">
              <a:solidFill>
                <a:srgbClr val="475467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334500" y="5638800"/>
              <a:ext cx="1714500" cy="723900"/>
            </a:xfrm>
            <a:prstGeom prst="roundRect">
              <a:avLst>
                <a:gd name="adj" fmla="val 18421"/>
              </a:avLst>
            </a:prstGeom>
            <a:solidFill>
              <a:srgbClr val="FFFFFF"/>
            </a:solidFill>
            <a:ln w="20955">
              <a:solidFill>
                <a:srgbClr val="2E7D6B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2496800" y="2266950"/>
              <a:ext cx="2057400" cy="800100"/>
            </a:xfrm>
            <a:prstGeom prst="roundRect">
              <a:avLst>
                <a:gd name="adj" fmla="val 16667"/>
              </a:avLst>
            </a:prstGeom>
            <a:solidFill>
              <a:srgbClr val="F1EFF8"/>
            </a:solidFill>
            <a:ln w="20955">
              <a:solidFill>
                <a:srgbClr val="6D5BA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2496800" y="3667125"/>
              <a:ext cx="20574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20955">
              <a:solidFill>
                <a:srgbClr val="6D5BA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2496800" y="5143500"/>
              <a:ext cx="20574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20955">
              <a:solidFill>
                <a:srgbClr val="6D5BA6"/>
              </a:solidFill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1428750" y="2238375"/>
            <a:ext cx="12106275" cy="3895725"/>
            <a:chOff x="1428750" y="2238375"/>
            <a:chExt cx="12106275" cy="3895725"/>
          </a:xfrm>
        </p:grpSpPr>
        <p:sp>
          <p:nvSpPr>
            <p:cNvPr id="42" name="Freeform 42"/>
            <p:cNvSpPr/>
            <p:nvPr/>
          </p:nvSpPr>
          <p:spPr>
            <a:xfrm>
              <a:off x="1428750" y="27241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43" name="Freeform 43"/>
            <p:cNvSpPr/>
            <p:nvPr/>
          </p:nvSpPr>
          <p:spPr>
            <a:xfrm>
              <a:off x="1428750" y="4010025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44" name="Freeform 44"/>
            <p:cNvSpPr/>
            <p:nvPr/>
          </p:nvSpPr>
          <p:spPr>
            <a:xfrm>
              <a:off x="2143125" y="2238375"/>
              <a:ext cx="638175" cy="2600325"/>
            </a:xfrm>
            <a:custGeom>
              <a:avLst/>
              <a:gdLst/>
              <a:ahLst/>
              <a:cxnLst/>
              <a:rect l="l" t="t" r="r" b="b"/>
              <a:pathLst>
                <a:path w="638175" h="2600325">
                  <a:moveTo>
                    <a:pt x="0" y="2600325"/>
                  </a:moveTo>
                  <a:lnTo>
                    <a:pt x="314325" y="2600325"/>
                  </a:lnTo>
                  <a:lnTo>
                    <a:pt x="314325" y="0"/>
                  </a:lnTo>
                  <a:lnTo>
                    <a:pt x="638175" y="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45" name="Freeform 45"/>
            <p:cNvSpPr/>
            <p:nvPr/>
          </p:nvSpPr>
          <p:spPr>
            <a:xfrm>
              <a:off x="4400550" y="2238375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46" name="Freeform 46"/>
            <p:cNvSpPr/>
            <p:nvPr/>
          </p:nvSpPr>
          <p:spPr>
            <a:xfrm>
              <a:off x="5619750" y="26670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47" name="Freeform 47"/>
            <p:cNvSpPr/>
            <p:nvPr/>
          </p:nvSpPr>
          <p:spPr>
            <a:xfrm>
              <a:off x="4400550" y="2409825"/>
              <a:ext cx="457200" cy="952500"/>
            </a:xfrm>
            <a:custGeom>
              <a:avLst/>
              <a:gdLst/>
              <a:ahLst/>
              <a:cxnLst/>
              <a:rect l="l" t="t" r="r" b="b"/>
              <a:pathLst>
                <a:path w="457200" h="952500">
                  <a:moveTo>
                    <a:pt x="457200" y="0"/>
                  </a:moveTo>
                  <a:lnTo>
                    <a:pt x="171450" y="0"/>
                  </a:lnTo>
                  <a:lnTo>
                    <a:pt x="171450" y="952500"/>
                  </a:lnTo>
                  <a:lnTo>
                    <a:pt x="0" y="95250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48" name="Freeform 48"/>
            <p:cNvSpPr/>
            <p:nvPr/>
          </p:nvSpPr>
          <p:spPr>
            <a:xfrm>
              <a:off x="3590925" y="3695700"/>
              <a:ext cx="2028825" cy="495300"/>
            </a:xfrm>
            <a:custGeom>
              <a:avLst/>
              <a:gdLst/>
              <a:ahLst/>
              <a:cxnLst/>
              <a:rect l="l" t="t" r="r" b="b"/>
              <a:pathLst>
                <a:path w="2028825" h="495300">
                  <a:moveTo>
                    <a:pt x="2028825" y="0"/>
                  </a:moveTo>
                  <a:lnTo>
                    <a:pt x="2028825" y="304800"/>
                  </a:lnTo>
                  <a:lnTo>
                    <a:pt x="0" y="304800"/>
                  </a:lnTo>
                  <a:lnTo>
                    <a:pt x="0" y="49530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49" name="Freeform 49"/>
            <p:cNvSpPr/>
            <p:nvPr/>
          </p:nvSpPr>
          <p:spPr>
            <a:xfrm>
              <a:off x="4400550" y="4619625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50" name="Freeform 50"/>
            <p:cNvSpPr/>
            <p:nvPr/>
          </p:nvSpPr>
          <p:spPr>
            <a:xfrm>
              <a:off x="4572000" y="5048250"/>
              <a:ext cx="1047750" cy="590550"/>
            </a:xfrm>
            <a:custGeom>
              <a:avLst/>
              <a:gdLst/>
              <a:ahLst/>
              <a:cxnLst/>
              <a:rect l="l" t="t" r="r" b="b"/>
              <a:pathLst>
                <a:path w="1047750" h="590550">
                  <a:moveTo>
                    <a:pt x="1047750" y="0"/>
                  </a:moveTo>
                  <a:lnTo>
                    <a:pt x="1047750" y="285750"/>
                  </a:lnTo>
                  <a:lnTo>
                    <a:pt x="0" y="285750"/>
                  </a:lnTo>
                  <a:lnTo>
                    <a:pt x="0" y="59055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51" name="Freeform 51"/>
            <p:cNvSpPr/>
            <p:nvPr/>
          </p:nvSpPr>
          <p:spPr>
            <a:xfrm>
              <a:off x="5429250" y="2238375"/>
              <a:ext cx="1543050" cy="3762375"/>
            </a:xfrm>
            <a:custGeom>
              <a:avLst/>
              <a:gdLst/>
              <a:ahLst/>
              <a:cxnLst/>
              <a:rect l="l" t="t" r="r" b="b"/>
              <a:pathLst>
                <a:path w="1543050" h="3762375">
                  <a:moveTo>
                    <a:pt x="0" y="3762375"/>
                  </a:moveTo>
                  <a:lnTo>
                    <a:pt x="1238250" y="3762375"/>
                  </a:lnTo>
                  <a:lnTo>
                    <a:pt x="1238250" y="0"/>
                  </a:lnTo>
                  <a:lnTo>
                    <a:pt x="1543050" y="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52" name="Freeform 52"/>
            <p:cNvSpPr/>
            <p:nvPr/>
          </p:nvSpPr>
          <p:spPr>
            <a:xfrm>
              <a:off x="7810500" y="2638425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53" name="Freeform 53"/>
            <p:cNvSpPr/>
            <p:nvPr/>
          </p:nvSpPr>
          <p:spPr>
            <a:xfrm>
              <a:off x="6838950" y="2638425"/>
              <a:ext cx="971550" cy="1724025"/>
            </a:xfrm>
            <a:custGeom>
              <a:avLst/>
              <a:gdLst/>
              <a:ahLst/>
              <a:cxnLst/>
              <a:rect l="l" t="t" r="r" b="b"/>
              <a:pathLst>
                <a:path w="971550" h="1724025">
                  <a:moveTo>
                    <a:pt x="971550" y="0"/>
                  </a:moveTo>
                  <a:lnTo>
                    <a:pt x="0" y="0"/>
                  </a:lnTo>
                  <a:lnTo>
                    <a:pt x="0" y="1724025"/>
                  </a:lnTo>
                  <a:lnTo>
                    <a:pt x="133350" y="1724025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54" name="Freeform 54"/>
            <p:cNvSpPr/>
            <p:nvPr/>
          </p:nvSpPr>
          <p:spPr>
            <a:xfrm>
              <a:off x="8648700" y="3409950"/>
              <a:ext cx="419100" cy="590550"/>
            </a:xfrm>
            <a:custGeom>
              <a:avLst/>
              <a:gdLst/>
              <a:ahLst/>
              <a:cxnLst/>
              <a:rect l="l" t="t" r="r" b="b"/>
              <a:pathLst>
                <a:path w="419100" h="590550">
                  <a:moveTo>
                    <a:pt x="0" y="0"/>
                  </a:moveTo>
                  <a:lnTo>
                    <a:pt x="209550" y="0"/>
                  </a:lnTo>
                  <a:lnTo>
                    <a:pt x="209550" y="590550"/>
                  </a:lnTo>
                  <a:lnTo>
                    <a:pt x="419100" y="59055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55" name="Freeform 55"/>
            <p:cNvSpPr/>
            <p:nvPr/>
          </p:nvSpPr>
          <p:spPr>
            <a:xfrm>
              <a:off x="8648700" y="4305300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438150"/>
                  </a:moveTo>
                  <a:lnTo>
                    <a:pt x="209550" y="4381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56" name="Freeform 56"/>
            <p:cNvSpPr/>
            <p:nvPr/>
          </p:nvSpPr>
          <p:spPr>
            <a:xfrm>
              <a:off x="10496550" y="3124200"/>
              <a:ext cx="285750" cy="876300"/>
            </a:xfrm>
            <a:custGeom>
              <a:avLst/>
              <a:gdLst/>
              <a:ahLst/>
              <a:cxnLst/>
              <a:rect l="l" t="t" r="r" b="b"/>
              <a:pathLst>
                <a:path w="285750" h="876300">
                  <a:moveTo>
                    <a:pt x="0" y="876300"/>
                  </a:moveTo>
                  <a:lnTo>
                    <a:pt x="171450" y="876300"/>
                  </a:lnTo>
                  <a:lnTo>
                    <a:pt x="171450" y="0"/>
                  </a:lnTo>
                  <a:lnTo>
                    <a:pt x="285750" y="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57" name="Freeform 57"/>
            <p:cNvSpPr/>
            <p:nvPr/>
          </p:nvSpPr>
          <p:spPr>
            <a:xfrm>
              <a:off x="10496550" y="4305300"/>
              <a:ext cx="285750" cy="695325"/>
            </a:xfrm>
            <a:custGeom>
              <a:avLst/>
              <a:gdLst/>
              <a:ahLst/>
              <a:cxnLst/>
              <a:rect l="l" t="t" r="r" b="b"/>
              <a:pathLst>
                <a:path w="285750" h="695325">
                  <a:moveTo>
                    <a:pt x="0" y="0"/>
                  </a:moveTo>
                  <a:lnTo>
                    <a:pt x="171450" y="0"/>
                  </a:lnTo>
                  <a:lnTo>
                    <a:pt x="171450" y="695325"/>
                  </a:lnTo>
                  <a:lnTo>
                    <a:pt x="285750" y="695325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58" name="Freeform 58"/>
            <p:cNvSpPr/>
            <p:nvPr/>
          </p:nvSpPr>
          <p:spPr>
            <a:xfrm>
              <a:off x="10191750" y="3476625"/>
              <a:ext cx="1190625" cy="2162175"/>
            </a:xfrm>
            <a:custGeom>
              <a:avLst/>
              <a:gdLst/>
              <a:ahLst/>
              <a:cxnLst/>
              <a:rect l="l" t="t" r="r" b="b"/>
              <a:pathLst>
                <a:path w="1190625" h="2162175">
                  <a:moveTo>
                    <a:pt x="1190625" y="0"/>
                  </a:moveTo>
                  <a:lnTo>
                    <a:pt x="1190625" y="2000250"/>
                  </a:lnTo>
                  <a:lnTo>
                    <a:pt x="0" y="2000250"/>
                  </a:lnTo>
                  <a:lnTo>
                    <a:pt x="0" y="2162175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59" name="Freeform 59"/>
            <p:cNvSpPr/>
            <p:nvPr/>
          </p:nvSpPr>
          <p:spPr>
            <a:xfrm>
              <a:off x="10191750" y="5353050"/>
              <a:ext cx="1190625" cy="285750"/>
            </a:xfrm>
            <a:custGeom>
              <a:avLst/>
              <a:gdLst/>
              <a:ahLst/>
              <a:cxnLst/>
              <a:rect l="l" t="t" r="r" b="b"/>
              <a:pathLst>
                <a:path w="1190625" h="285750">
                  <a:moveTo>
                    <a:pt x="1190625" y="0"/>
                  </a:moveTo>
                  <a:lnTo>
                    <a:pt x="1190625" y="123825"/>
                  </a:lnTo>
                  <a:lnTo>
                    <a:pt x="0" y="123825"/>
                  </a:lnTo>
                  <a:lnTo>
                    <a:pt x="0" y="28575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60" name="Freeform 60"/>
            <p:cNvSpPr/>
            <p:nvPr/>
          </p:nvSpPr>
          <p:spPr>
            <a:xfrm>
              <a:off x="8648700" y="5219700"/>
              <a:ext cx="2133600" cy="914400"/>
            </a:xfrm>
            <a:custGeom>
              <a:avLst/>
              <a:gdLst/>
              <a:ahLst/>
              <a:cxnLst/>
              <a:rect l="l" t="t" r="r" b="b"/>
              <a:pathLst>
                <a:path w="2133600" h="914400">
                  <a:moveTo>
                    <a:pt x="0" y="914400"/>
                  </a:moveTo>
                  <a:lnTo>
                    <a:pt x="1924050" y="914400"/>
                  </a:lnTo>
                  <a:lnTo>
                    <a:pt x="1924050" y="0"/>
                  </a:lnTo>
                  <a:lnTo>
                    <a:pt x="2133600" y="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custDash>
                <a:ds d="320000" sp="240000"/>
              </a:custDash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11049000" y="2667000"/>
              <a:ext cx="1447800" cy="3333750"/>
            </a:xfrm>
            <a:custGeom>
              <a:avLst/>
              <a:gdLst/>
              <a:ahLst/>
              <a:cxnLst/>
              <a:rect l="l" t="t" r="r" b="b"/>
              <a:pathLst>
                <a:path w="1447800" h="3333750">
                  <a:moveTo>
                    <a:pt x="0" y="3333750"/>
                  </a:moveTo>
                  <a:lnTo>
                    <a:pt x="1143000" y="3333750"/>
                  </a:lnTo>
                  <a:lnTo>
                    <a:pt x="1143000" y="0"/>
                  </a:lnTo>
                  <a:lnTo>
                    <a:pt x="1447800" y="0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62" name="Freeform 62"/>
            <p:cNvSpPr/>
            <p:nvPr/>
          </p:nvSpPr>
          <p:spPr>
            <a:xfrm>
              <a:off x="13525500" y="3067050"/>
              <a:ext cx="9525" cy="600075"/>
            </a:xfrm>
            <a:custGeom>
              <a:avLst/>
              <a:gdLst/>
              <a:ahLst/>
              <a:cxnLst/>
              <a:rect l="l" t="t" r="r" b="b"/>
              <a:pathLst>
                <a:path w="9525" h="600075">
                  <a:moveTo>
                    <a:pt x="0" y="0"/>
                  </a:moveTo>
                  <a:lnTo>
                    <a:pt x="0" y="600075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  <p:sp>
          <p:nvSpPr>
            <p:cNvPr id="63" name="Freeform 63"/>
            <p:cNvSpPr/>
            <p:nvPr/>
          </p:nvSpPr>
          <p:spPr>
            <a:xfrm>
              <a:off x="13525500" y="4543425"/>
              <a:ext cx="9525" cy="600075"/>
            </a:xfrm>
            <a:custGeom>
              <a:avLst/>
              <a:gdLst/>
              <a:ahLst/>
              <a:cxnLst/>
              <a:rect l="l" t="t" r="r" b="b"/>
              <a:pathLst>
                <a:path w="9525" h="600075">
                  <a:moveTo>
                    <a:pt x="0" y="0"/>
                  </a:moveTo>
                  <a:lnTo>
                    <a:pt x="0" y="600075"/>
                  </a:lnTo>
                </a:path>
              </a:pathLst>
            </a:custGeom>
            <a:noFill/>
            <a:ln w="23812">
              <a:solidFill>
                <a:srgbClr val="475467"/>
              </a:solidFill>
              <a:tailEnd type="triangle" w="lg" len="lg"/>
            </a:ln>
          </p:spPr>
        </p:sp>
      </p:grpSp>
      <p:grpSp>
        <p:nvGrpSpPr>
          <p:cNvPr id="134" name="Group 134"/>
          <p:cNvGrpSpPr/>
          <p:nvPr/>
        </p:nvGrpSpPr>
        <p:grpSpPr>
          <a:xfrm>
            <a:off x="491490" y="196215"/>
            <a:ext cx="13905357" cy="7888129"/>
            <a:chOff x="491490" y="196215"/>
            <a:chExt cx="13905357" cy="7888129"/>
          </a:xfrm>
        </p:grpSpPr>
        <p:sp>
          <p:nvSpPr>
            <p:cNvPr id="65" name="TextBox 65"/>
            <p:cNvSpPr txBox="1"/>
            <p:nvPr/>
          </p:nvSpPr>
          <p:spPr>
            <a:xfrm>
              <a:off x="491490" y="196215"/>
              <a:ext cx="8377757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DTA 制度型开放条款编码与指标构建流程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14350" y="771525"/>
              <a:ext cx="71489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当前正式口径：Stage 1 双模型识别与仲裁；Stage 2 双模型交叉验证与冲突仲裁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9602" y="1522571"/>
              <a:ext cx="106374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01 数据准备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725102" y="1522571"/>
              <a:ext cx="258013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02 Stage 1｜制度型开放识别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16102" y="1522571"/>
              <a:ext cx="293928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03 Stage 2｜贸易/投资影响识别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2440602" y="1522571"/>
              <a:ext cx="111363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04 指标输出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11798" y="2116122"/>
              <a:ext cx="83390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DTA 2.0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7429" y="2366153"/>
              <a:ext cx="11426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条款原始表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9648" y="334137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条款清洗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7378" y="3579495"/>
              <a:ext cx="118274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唯一 ID 构造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31890" y="4622482"/>
              <a:ext cx="9937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协定—条款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99674" y="4860608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矩阵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2494" y="55773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统一条款粒度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7462" y="5779770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保留来源字段与文本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992532" y="1993773"/>
              <a:ext cx="1196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1A 双模型判定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006709" y="2208086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制度型开放？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020886" y="2422398"/>
              <a:ext cx="114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样本 1,071 条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157252" y="2010537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比较与仲裁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157252" y="2212943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冲突 103 条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063528" y="2415350"/>
              <a:ext cx="111244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冲突率 9.62%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039166" y="3077337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非制度型开放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311412" y="3279743"/>
              <a:ext cx="5590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307 条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878495" y="3482150"/>
              <a:ext cx="142485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→ not_applicable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157252" y="3077337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制度型开放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340237" y="3279743"/>
              <a:ext cx="5590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764 条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898394" y="3482150"/>
              <a:ext cx="144271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进入 Stage 1B / 2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025776" y="4233434"/>
              <a:ext cx="11302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1B 双模型判定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3039166" y="4435840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四类制度维度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3168594" y="4638246"/>
              <a:ext cx="8446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规则·规制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3168594" y="4840653"/>
              <a:ext cx="8446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管理·标准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184458" y="4256151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比较与仲裁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184458" y="4446651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冲突 109 条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3861" y="4637151"/>
              <a:ext cx="8117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分母：764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071043" y="4827651"/>
              <a:ext cx="10974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冲突率 14.27%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3831840" y="5806154"/>
              <a:ext cx="14803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Stage 1 最终结果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3690072" y="6020467"/>
              <a:ext cx="17638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条款属性 + 制度维度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235735" y="1979486"/>
              <a:ext cx="11495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Stage 2 样本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131772" y="219379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制度型开放条款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514545" y="2408110"/>
              <a:ext cx="5919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764 条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194585" y="3236976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模型 A 独立编码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934152" y="3427476"/>
              <a:ext cx="17526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mp / tr / both / none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194585" y="4570476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模型 B 独立编码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934152" y="4760976"/>
              <a:ext cx="17526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mp / tr / both / none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319677" y="3848862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一致性比较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230416" y="4051268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仅按影响类型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230416" y="425367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核验权重规则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009138" y="2834450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一致样本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009138" y="3036856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直接接受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102862" y="3239262"/>
              <a:ext cx="5590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682 条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009138" y="471087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冲突样本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960044" y="4913281"/>
              <a:ext cx="8446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盲审/仲裁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151956" y="5115687"/>
              <a:ext cx="4608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82 条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402413" y="5882640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可追溯记录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256708" y="6061234"/>
              <a:ext cx="1107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prompt / hash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555995" y="6239828"/>
              <a:ext cx="5090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run_id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9372207" y="5816965"/>
              <a:ext cx="16390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最终影响类型与权重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9358818" y="6019371"/>
              <a:ext cx="16658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贸易权重 / 投资权重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3086398" y="2450782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条款层面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2818614" y="2688908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贸易/投资权重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2876371" y="3889058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协定层面指数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2986635" y="4127182"/>
              <a:ext cx="10777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400 份协定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2794791" y="5317998"/>
              <a:ext cx="14614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国家对—年份面板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2695553" y="5532311"/>
              <a:ext cx="16598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指标 / 生效 dummy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2941284" y="5746623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及理想点距离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2654153" y="6347460"/>
              <a:ext cx="17426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最终全期表：1958—2023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3078206" y="6537960"/>
              <a:ext cx="8945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76 个经济体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04850" y="717232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影响类型与进入条件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707708" y="7539514"/>
              <a:ext cx="80828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82230"/>
                  </a:solidFill>
                  <a:latin typeface="Microsoft YaHei"/>
                  <a:ea typeface="Microsoft YaHei"/>
                  <a:cs typeface="Microsoft YaHei"/>
                </a:rPr>
                <a:t>mp：仅直接作用于贸易；tr：仅直接作用于跨境投资；both：两条渠道均存在，权重均大于 0 且合计为 1。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07708" y="7825264"/>
              <a:ext cx="88989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67085"/>
                  </a:solidFill>
                  <a:latin typeface="Microsoft YaHei"/>
                  <a:ea typeface="Microsoft YaHei"/>
                  <a:cs typeface="Microsoft YaHei"/>
                </a:rPr>
                <a:t>none：已进入 Stage 2，但无直接贸易/投资影响；not_applicable：Stage 1 判定为非制度型开放，未进入 Stage 2。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