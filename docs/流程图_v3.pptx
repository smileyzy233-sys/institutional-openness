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3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1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2722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6556248"/>
            <a:ext cx="1167688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660196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制度型开放指标测算流程｜institutional-openness（pipeline schema v3.0）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64592"/>
            <a:ext cx="11475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制度型开放指标的主要测算流程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DTA 2.0 条款数据出发，形成协议层与国家对—年份层面的贸易、投资制度型开放指标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060704"/>
            <a:ext cx="1737360" cy="4498848"/>
          </a:xfrm>
          <a:prstGeom prst="roundRect">
            <a:avLst>
              <a:gd name="adj" fmla="val 4211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33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研究输入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DTA 2.0 原始数据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84632" y="1810512"/>
            <a:ext cx="1408176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" y="1837944"/>
            <a:ext cx="1298448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条款清单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Provision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84632" y="2807208"/>
            <a:ext cx="140817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" y="2834640"/>
            <a:ext cx="1298448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协定—条款</a:t>
            </a:r>
            <a:endParaRPr lang="en-US" sz="1130" dirty="0"/>
          </a:p>
          <a:p>
            <a:pPr marL="0" indent="0" algn="ctr">
              <a:buNone/>
            </a:pPr>
            <a:r>
              <a:rPr lang="en-US" sz="11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覆盖矩阵  xₐₚ∈[0,1]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484632" y="3877056"/>
            <a:ext cx="1408176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" y="3904488"/>
            <a:ext cx="1298448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协定与双边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生效信息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448056" y="4946904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条款内容 + 协定覆盖 + 时间与成员关系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377440" y="1060704"/>
            <a:ext cx="1938528" cy="4498848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1338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阶段一：制度属性识别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14173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条款层 Stage 1A + Stage 1B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2596896" y="1810512"/>
            <a:ext cx="1499616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2616" y="1828800"/>
            <a:ext cx="140817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1A</a:t>
            </a:r>
            <a:endParaRPr lang="en-US" sz="1110" dirty="0"/>
          </a:p>
          <a:p>
            <a:pPr marL="0" indent="0" algn="ctr">
              <a:buNone/>
            </a:pPr>
            <a:r>
              <a:rPr lang="en-US" sz="11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是否属于制度型开放？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3346704" y="2633472"/>
            <a:ext cx="0" cy="32918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96896" y="2999232"/>
            <a:ext cx="1499616" cy="786384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2616" y="3017520"/>
            <a:ext cx="140817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1B</a:t>
            </a:r>
            <a:endParaRPr lang="en-US" sz="1110" dirty="0"/>
          </a:p>
          <a:p>
            <a:pPr marL="0" indent="0" algn="ctr">
              <a:buNone/>
            </a:pPr>
            <a:r>
              <a:rPr lang="en-US" sz="11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识别主导制度维度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2560320" y="4059936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15184" y="4087368"/>
            <a:ext cx="1463040" cy="10607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 rules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规制 regulation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 management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 standards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645152" y="1060704"/>
            <a:ext cx="1993392" cy="4498848"/>
          </a:xfrm>
          <a:prstGeom prst="roundRect">
            <a:avLst>
              <a:gd name="adj" fmla="val 3670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1338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阶段二：渠道识别与赋权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141732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条款层 Stage 2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864608" y="1810512"/>
            <a:ext cx="155448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1828800"/>
            <a:ext cx="14630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贸易/投资直接作用机制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202936" y="2724912"/>
            <a:ext cx="877824" cy="804672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94376" y="2779776"/>
            <a:ext cx="694944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影响类型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4773168" y="3785616"/>
            <a:ext cx="173736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28032" y="3813048"/>
            <a:ext cx="1627632" cy="1353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mp：仅贸易（1,0）</a:t>
            </a:r>
            <a:endParaRPr lang="en-US" sz="940" dirty="0"/>
          </a:p>
          <a:p>
            <a:pPr marL="0" indent="0" algn="l">
              <a:buNone/>
            </a:pPr>
            <a:r>
              <a:rPr lang="en-US" sz="94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tr：仅投资（0,1）</a:t>
            </a:r>
            <a:endParaRPr lang="en-US" sz="940" dirty="0"/>
          </a:p>
          <a:p>
            <a:pPr marL="0" indent="0" algn="l">
              <a:buNone/>
            </a:pPr>
            <a:r>
              <a:rPr lang="en-US" sz="94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both：两渠道均存在（权重和=1）</a:t>
            </a:r>
            <a:endParaRPr lang="en-US" sz="940" dirty="0"/>
          </a:p>
          <a:p>
            <a:pPr marL="0" indent="0" algn="l">
              <a:buNone/>
            </a:pPr>
            <a:r>
              <a:rPr lang="en-US" sz="94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none：无直接贸易/投资渠道（0,0）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6976872" y="1060704"/>
            <a:ext cx="1993392" cy="4498848"/>
          </a:xfrm>
          <a:prstGeom prst="roundRect">
            <a:avLst>
              <a:gd name="adj" fmla="val 3670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68312" y="11338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阶段三：协议层聚合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68312" y="141732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覆盖矩阵 × 条款权重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7178040" y="1847088"/>
            <a:ext cx="1591056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32904" y="1874520"/>
            <a:ext cx="1481328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协议贸易得分</a:t>
            </a:r>
            <a:endParaRPr lang="en-US" sz="1110" dirty="0"/>
          </a:p>
          <a:p>
            <a:pPr marL="0" indent="0" algn="ctr">
              <a:buNone/>
            </a:pPr>
            <a:r>
              <a:rPr lang="en-US" sz="11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Tradeₐ = Σₚ xₐₚ·wₚᵀ</a:t>
            </a:r>
            <a:endParaRPr lang="en-US" sz="1110" dirty="0"/>
          </a:p>
        </p:txBody>
      </p:sp>
      <p:sp>
        <p:nvSpPr>
          <p:cNvPr id="38" name="Shape 36"/>
          <p:cNvSpPr/>
          <p:nvPr/>
        </p:nvSpPr>
        <p:spPr>
          <a:xfrm>
            <a:off x="7178040" y="2907792"/>
            <a:ext cx="1591056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32904" y="2935224"/>
            <a:ext cx="1481328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协议投资得分</a:t>
            </a:r>
            <a:endParaRPr lang="en-US" sz="1110" dirty="0"/>
          </a:p>
          <a:p>
            <a:pPr marL="0" indent="0" algn="ctr">
              <a:buNone/>
            </a:pPr>
            <a:r>
              <a:rPr lang="en-US" sz="11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Investₐ = Σₚ xₐₚ·wₚᴵ</a:t>
            </a:r>
            <a:endParaRPr lang="en-US" sz="1110" dirty="0"/>
          </a:p>
        </p:txBody>
      </p:sp>
      <p:sp>
        <p:nvSpPr>
          <p:cNvPr id="40" name="Shape 38"/>
          <p:cNvSpPr/>
          <p:nvPr/>
        </p:nvSpPr>
        <p:spPr>
          <a:xfrm>
            <a:off x="7178040" y="3968496"/>
            <a:ext cx="1591056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32904" y="3995928"/>
            <a:ext cx="1481328" cy="9052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四维度覆盖结构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按主导维度汇总条款覆盖</a:t>
            </a:r>
            <a:endParaRPr lang="en-US" sz="1070" dirty="0"/>
          </a:p>
        </p:txBody>
      </p:sp>
      <p:sp>
        <p:nvSpPr>
          <p:cNvPr id="42" name="Text 40"/>
          <p:cNvSpPr/>
          <p:nvPr/>
        </p:nvSpPr>
        <p:spPr>
          <a:xfrm>
            <a:off x="7123176" y="508406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输出：agreement_level_indices</a:t>
            </a:r>
            <a:endParaRPr lang="en-US" sz="890" dirty="0"/>
          </a:p>
        </p:txBody>
      </p:sp>
      <p:sp>
        <p:nvSpPr>
          <p:cNvPr id="43" name="Shape 41"/>
          <p:cNvSpPr/>
          <p:nvPr/>
        </p:nvSpPr>
        <p:spPr>
          <a:xfrm>
            <a:off x="9308592" y="1060704"/>
            <a:ext cx="2542032" cy="4498848"/>
          </a:xfrm>
          <a:prstGeom prst="roundRect">
            <a:avLst>
              <a:gd name="adj" fmla="val 2878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00032" y="113385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阶段四：国家对—年份映射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400032" y="141732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依据协定生效、成员关系与多协定合并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9509760" y="1792224"/>
            <a:ext cx="213969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564624" y="1819656"/>
            <a:ext cx="2029968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识别国家对 (i,j) 在年份 t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正在生效的协定集合  Aᵢⱼₜ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10579608" y="2660904"/>
            <a:ext cx="0" cy="30175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509760" y="2999232"/>
            <a:ext cx="2139696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564624" y="3026664"/>
            <a:ext cx="202996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多协定默认采用“条款并集”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每条条款保留最高覆盖，避免重复计数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10579608" y="3922776"/>
            <a:ext cx="0" cy="31089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445752" y="4270248"/>
            <a:ext cx="2267712" cy="1024128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778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91472" y="4288536"/>
            <a:ext cx="217627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最终输出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国家对—年份制度型贸易开放指数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国家对—年份制度型投资开放指数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及四维度制度结构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2093976" y="3319272"/>
            <a:ext cx="210312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352544" y="3319272"/>
            <a:ext cx="219456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675120" y="3319272"/>
            <a:ext cx="228600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006840" y="3319272"/>
            <a:ext cx="228600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402336" y="6181344"/>
            <a:ext cx="11356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00000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注：本图仅展示核心测算链条，不包含理想点匹配及其他控制变量匹配。当前全样本为 1,071 条可编码条款，其中 764 条进入 Stage 2（约 71.3%；最终以最新版人工复核输出为准）。</a:t>
            </a:r>
            <a:endParaRPr lang="en-US" sz="83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64592"/>
            <a:ext cx="11475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条款层分类、双模型核验与最终赋权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统一决策优先级：完成人工复核 ＞ 有效仲裁结果 ＞ 双模型一致；任何未解决条款均阻断后续聚合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938528" y="1024128"/>
            <a:ext cx="8321040" cy="475488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93392" y="1051560"/>
            <a:ext cx="821131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输入：单条 DTA 2.0 编码问题/制度安排描述 + 政策领域等辅助元数据</a:t>
            </a:r>
            <a:endParaRPr lang="en-US" sz="1160" dirty="0"/>
          </a:p>
        </p:txBody>
      </p:sp>
      <p:sp>
        <p:nvSpPr>
          <p:cNvPr id="6" name="Shape 4"/>
          <p:cNvSpPr/>
          <p:nvPr/>
        </p:nvSpPr>
        <p:spPr>
          <a:xfrm>
            <a:off x="310896" y="1700784"/>
            <a:ext cx="3291840" cy="4425696"/>
          </a:xfrm>
          <a:prstGeom prst="roundRect">
            <a:avLst>
              <a:gd name="adj" fmla="val 2222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7739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1A：制度型开放二元判断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" y="20574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判断“是否是制度性安排”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005072" y="1700784"/>
            <a:ext cx="3291840" cy="4425696"/>
          </a:xfrm>
          <a:prstGeom prst="roundRect">
            <a:avLst>
              <a:gd name="adj" fmla="val 2222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96512" y="17739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1B：主导制度维度判断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96512" y="20574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仅对 Stage 1A=1 的条款执行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99248" y="1700784"/>
            <a:ext cx="3291840" cy="4425696"/>
          </a:xfrm>
          <a:prstGeom prst="roundRect">
            <a:avLst>
              <a:gd name="adj" fmla="val 2222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0688" y="17739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2：贸易—投资渠道与权重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90688" y="20574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仅对制度型开放条款执行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85216" y="2414016"/>
            <a:ext cx="1078992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441448"/>
            <a:ext cx="96926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 A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独立判断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2249424" y="2414016"/>
            <a:ext cx="1078992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04288" y="2441448"/>
            <a:ext cx="96926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 B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独立判断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1124712" y="3054096"/>
            <a:ext cx="685800" cy="347472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2103121" y="3054096"/>
            <a:ext cx="685799" cy="347472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490472" y="3282696"/>
            <a:ext cx="932688" cy="694944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81912" y="3337560"/>
            <a:ext cx="749808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结果一致？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58952" y="4151376"/>
            <a:ext cx="2395728" cy="603504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3816" y="4178808"/>
            <a:ext cx="22860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一致：直接通过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不一致：仲裁；必要时人工复核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1956816" y="3986784"/>
            <a:ext cx="0" cy="14630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7824" y="4946904"/>
            <a:ext cx="2157984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" y="4965192"/>
            <a:ext cx="20665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最终结果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制度型开放 = 1 / 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5614416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9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1：具体权利义务、监管、实施程序或标准安排</a:t>
            </a:r>
            <a:endParaRPr lang="en-US" sz="790" dirty="0"/>
          </a:p>
          <a:p>
            <a:pPr marL="0" indent="0" algn="l">
              <a:buNone/>
            </a:pPr>
            <a:r>
              <a:rPr lang="en-US" sz="79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0：泛化合作、纯数量性关税减让、附件指引或信息不足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4507992" y="2395728"/>
            <a:ext cx="2286000" cy="603504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62856" y="2423160"/>
            <a:ext cx="217627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 A / 模型 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独立选择主导维度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50992" y="3017520"/>
            <a:ext cx="0" cy="27432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07992" y="3328416"/>
            <a:ext cx="228600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62856" y="3355848"/>
            <a:ext cx="2176272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 → 一致通过 / 冲突仲裁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50992" y="3877056"/>
            <a:ext cx="0" cy="237744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809744" y="4151376"/>
            <a:ext cx="1682496" cy="475488"/>
          </a:xfrm>
          <a:prstGeom prst="roundRect">
            <a:avLst>
              <a:gd name="adj" fmla="val 34615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55464" y="4169664"/>
            <a:ext cx="1591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最终主导维度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4224528" y="4791456"/>
            <a:ext cx="135331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79392" y="4818888"/>
            <a:ext cx="1243584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 rules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实体权利义务、待遇、资格与法律后果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5724144" y="4791456"/>
            <a:ext cx="135331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79008" y="4818888"/>
            <a:ext cx="1243584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规制 regulation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行业准入、监管限制与合规约束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4224528" y="5495544"/>
            <a:ext cx="135331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279392" y="5522976"/>
            <a:ext cx="1243584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 management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办理流程、机构协作、时限与核查</a:t>
            </a:r>
            <a:endParaRPr lang="en-US" sz="810" dirty="0"/>
          </a:p>
        </p:txBody>
      </p:sp>
      <p:sp>
        <p:nvSpPr>
          <p:cNvPr id="43" name="Shape 41"/>
          <p:cNvSpPr/>
          <p:nvPr/>
        </p:nvSpPr>
        <p:spPr>
          <a:xfrm>
            <a:off x="5724144" y="5495544"/>
            <a:ext cx="1353312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779008" y="5522976"/>
            <a:ext cx="1243584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 standards</a:t>
            </a:r>
            <a:endParaRPr lang="en-US" sz="810" dirty="0"/>
          </a:p>
          <a:p>
            <a:pPr marL="0" indent="0" algn="ctr">
              <a:buNone/>
            </a:pPr>
            <a:r>
              <a:rPr lang="en-US" sz="81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技术尺度、检验认证、合格评定与互认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8156448" y="2395728"/>
            <a:ext cx="2377440" cy="603504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11312" y="2423160"/>
            <a:ext cx="226771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 A / 模型 B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分别判断贸易与投资直接渠道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9345168" y="3017520"/>
            <a:ext cx="0" cy="27432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156448" y="3328416"/>
            <a:ext cx="2377440" cy="603504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11312" y="3355848"/>
            <a:ext cx="226771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仅比较 impact_type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类型一致则通过；冲突进入仲裁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9345168" y="3950208"/>
            <a:ext cx="0" cy="237744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394192" y="4224528"/>
            <a:ext cx="1901952" cy="475488"/>
          </a:xfrm>
          <a:prstGeom prst="roundRect">
            <a:avLst>
              <a:gd name="adj" fmla="val 34615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39912" y="4242816"/>
            <a:ext cx="18105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最终类型 + 有效权重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909560" y="4855464"/>
            <a:ext cx="13533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964424" y="4882896"/>
            <a:ext cx="1243584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mp 仅贸易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(1.0, 0.0)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427464" y="4855464"/>
            <a:ext cx="13533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482328" y="4882896"/>
            <a:ext cx="1243584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 仅投资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(0.0, 1.0)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909560" y="5486400"/>
            <a:ext cx="13533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964424" y="5513832"/>
            <a:ext cx="124358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both 两渠道均存在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两权重均&gt;0且合计=1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9427464" y="5486400"/>
            <a:ext cx="13533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482328" y="5513832"/>
            <a:ext cx="124358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none 无直接渠道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(0.0, 0.0)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3675888" y="3849624"/>
            <a:ext cx="237744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7370064" y="3849624"/>
            <a:ext cx="237744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402336" y="6254496"/>
            <a:ext cx="11356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00000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注：Stage 1A=0 的条款不进入 Stage 2（not_applicable），贸易与投资权重均记为 0；Stage 2 中“none”表示条款仍属于制度型开放，但不直接作用于贸易或跨境投资；“both”必须分别识别出两个直接渠道。</a:t>
            </a:r>
            <a:endParaRPr lang="en-US" sz="83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64592"/>
            <a:ext cx="11475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从条款权重到协议层及国家对—年份指标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核心思想：以协定中的实际条款覆盖程度乘以条款属性权重，再依据生效协定映射到双边年度面板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078992"/>
            <a:ext cx="3017520" cy="4754880"/>
          </a:xfrm>
          <a:prstGeom prst="roundRect">
            <a:avLst>
              <a:gd name="adj" fmla="val 2424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52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一、条款与协定输入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" y="14356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最终条款属性与 DTA 2.0 覆盖矩阵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3721608" y="1078992"/>
            <a:ext cx="3776472" cy="4754880"/>
          </a:xfrm>
          <a:prstGeom prst="roundRect">
            <a:avLst>
              <a:gd name="adj" fmla="val 1937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13048" y="1152144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二、协议层得分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3048" y="1435608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对每个协定 a 汇总全部条款 p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863840" y="1078992"/>
            <a:ext cx="3977640" cy="4754880"/>
          </a:xfrm>
          <a:prstGeom prst="roundRect">
            <a:avLst>
              <a:gd name="adj" fmla="val 1839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1521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三、国家对—年份得分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0" y="14356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对国家对 (i,j) 与年份 t 识别生效协定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76072" y="1828800"/>
            <a:ext cx="256032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" y="1856232"/>
            <a:ext cx="2450592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协定—条款覆盖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xₐₚ ∈ [0,1]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0=未覆盖；1=完全覆盖；中间值=部分覆盖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" y="2889504"/>
            <a:ext cx="2560320" cy="676656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" y="2916936"/>
            <a:ext cx="24505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条款贸易权重 wₚᵀ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条款投资权重 wₚᴵ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" y="3803904"/>
            <a:ext cx="2560320" cy="676656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" y="3831336"/>
            <a:ext cx="24505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条款主导维度 kₚ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∈ {规则、规制、管理、标准}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76072" y="4718304"/>
            <a:ext cx="2560320" cy="676656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" y="4745736"/>
            <a:ext cx="24505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双边协定信息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成员、进入生效年份、协定 ID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069080" y="1792224"/>
            <a:ext cx="3081528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23944" y="1819656"/>
            <a:ext cx="2971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制度型贸易开放得分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087368" y="2249424"/>
            <a:ext cx="304495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Tradeₐ = Σₚ  xₐₚ × wₚᵀ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069080" y="2880360"/>
            <a:ext cx="3081528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23944" y="2907792"/>
            <a:ext cx="2971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制度型投资开放得分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4087368" y="3337560"/>
            <a:ext cx="304495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Investₐ = Σₚ  xₐₚ × wₚᴵ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069080" y="3950208"/>
            <a:ext cx="3081528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23944" y="3977640"/>
            <a:ext cx="2971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四维度覆盖结构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4087368" y="4416552"/>
            <a:ext cx="304495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Dimₐ,ₖ = Σₚ  xₐₚ × 1(kₚ = k)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014216" y="5148072"/>
            <a:ext cx="3191256" cy="49377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9936" y="5166360"/>
            <a:ext cx="30998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输出：每个协定的贸易得分、投资得分及四维度条款覆盖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8138160" y="1792224"/>
            <a:ext cx="342900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93024" y="1819656"/>
            <a:ext cx="3319272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 1：确定生效协定集合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Aᵢⱼₜ = 国家 i 与 j 在年份 t 的有效协定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9852660" y="2532888"/>
            <a:ext cx="0" cy="28346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138160" y="2852928"/>
            <a:ext cx="342900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93024" y="2880360"/>
            <a:ext cx="3319272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步骤 2：多协定条款并集（默认）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8193024" y="3310128"/>
            <a:ext cx="331927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xᵢⱼₜ,ₚ = maxₐ∈Aᵢⱼₜ (xₐₚ)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8211312" y="378561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同一条款只保留最高覆盖程度，避免不同协定重复累计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9852660" y="4096512"/>
            <a:ext cx="0" cy="27432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595360" y="4407408"/>
            <a:ext cx="251460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1080" y="4425696"/>
            <a:ext cx="2423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最终国家对—年份输出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74736" y="4919472"/>
            <a:ext cx="3355848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29600" y="4946904"/>
            <a:ext cx="32461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TradeOpenᵢⱼₜ：制度型贸易开放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InvestOpenᵢⱼₜ：制度型投资开放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trade_agreement_dummy：协定生效虚拟变量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num_active_agreements：有效协定数量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38144" y="3474720"/>
            <a:ext cx="192024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571232" y="3474720"/>
            <a:ext cx="201168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402336" y="6181344"/>
            <a:ext cx="11356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00000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注：主结果采用条款并集（union）处理同一国家对—年份的多重协定；程序亦保留 max/mean 作为替代聚合方式。协议层与国家对—年份层输出均为未经理想点或控制变量匹配的原始制度型开放得分。</a:t>
            </a:r>
            <a:endParaRPr lang="en-US" sz="83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Office PowerPoint</Application>
  <PresentationFormat>宽屏</PresentationFormat>
  <Paragraphs>136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Noto Sans CJK SC</vt:lpstr>
      <vt:lpstr>Noto Serif CJK SC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</vt:vector>
  </TitlesOfParts>
  <Company>制度型开放研究项目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制度型开放指标测算流程（可编辑黑白版）</dc:title>
  <dc:subject>制度型开放指标主要测算流程</dc:subject>
  <dc:creator>OpenAI</dc:creator>
  <cp:lastModifiedBy>镇宇 杨</cp:lastModifiedBy>
  <cp:revision>3</cp:revision>
  <dcterms:created xsi:type="dcterms:W3CDTF">2026-07-24T02:59:03Z</dcterms:created>
  <dcterms:modified xsi:type="dcterms:W3CDTF">2026-07-24T03:13:27Z</dcterms:modified>
</cp:coreProperties>
</file>